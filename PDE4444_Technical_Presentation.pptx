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382500" y="1809750"/>
            <a:ext cx="6667500" cy="6667500"/>
          </a:xfrm>
          <a:prstGeom prst="ellipse">
            <a:avLst/>
          </a:prstGeom>
          <a:ln w="7620">
            <a:solidFill>
              <a:srgbClr val="212A31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954000" y="2762250"/>
            <a:ext cx="4762500" cy="4762500"/>
          </a:xfrm>
          <a:prstGeom prst="ellipse">
            <a:avLst/>
          </a:prstGeom>
          <a:ln w="7620">
            <a:solidFill>
              <a:srgbClr val="212A31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3500" y="1702276"/>
            <a:ext cx="6031706" cy="426720"/>
          </a:xfrm>
          <a:prstGeom prst="roundRect">
            <a:avLst>
              <a:gd name="adj" fmla="val 17857"/>
            </a:avLst>
          </a:prstGeom>
          <a:solidFill>
            <a:srgbClr val="061821"/>
          </a:solidFill>
          <a:ln w="7620">
            <a:solidFill>
              <a:srgbClr val="063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12570" y="1767046"/>
            <a:ext cx="5854517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PDE4444 — MACHINE LEARNING FOR ENGINEERS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33500" y="2471896"/>
            <a:ext cx="9810750" cy="26303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996"/>
              </a:lnSpc>
              <a:buNone/>
            </a:pPr>
            <a:r>
              <a:rPr lang="en-US" sz="630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ML-Based Visual </a:t>
            </a:r>
            <a:pPr algn="l" indent="0" marL="0">
              <a:lnSpc>
                <a:spcPct val="107996"/>
              </a:lnSpc>
              <a:buNone/>
            </a:pPr>
            <a:r>
              <a:rPr lang="en-US" sz="63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Inspection </a:t>
            </a:r>
            <a:pPr algn="l" indent="0" marL="0">
              <a:lnSpc>
                <a:spcPct val="107996"/>
              </a:lnSpc>
              <a:buNone/>
            </a:pPr>
            <a:r>
              <a:rPr lang="en-US" sz="630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</a:t>
            </a:r>
            <a:endParaRPr lang="en-US" sz="6300" dirty="0"/>
          </a:p>
        </p:txBody>
      </p:sp>
      <p:sp>
        <p:nvSpPr>
          <p:cNvPr id="7" name="Text 5"/>
          <p:cNvSpPr/>
          <p:nvPr/>
        </p:nvSpPr>
        <p:spPr>
          <a:xfrm>
            <a:off x="1333500" y="5407025"/>
            <a:ext cx="6867525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8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Classifying breadboard circuits as PASS/FAIL using deep learning and classical ML — a comparative study</a:t>
            </a:r>
            <a:endParaRPr lang="en-US" sz="2880" dirty="0"/>
          </a:p>
        </p:txBody>
      </p:sp>
      <p:sp>
        <p:nvSpPr>
          <p:cNvPr id="8" name="Text 6"/>
          <p:cNvSpPr/>
          <p:nvPr/>
        </p:nvSpPr>
        <p:spPr>
          <a:xfrm>
            <a:off x="1333500" y="7312025"/>
            <a:ext cx="314549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RESULT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33500" y="7628255"/>
            <a:ext cx="314549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93.75%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333500" y="8161655"/>
            <a:ext cx="3145490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Tuned Validation Accuracy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844574" y="7710170"/>
            <a:ext cx="9525" cy="571500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12" name="Text 10"/>
          <p:cNvSpPr/>
          <p:nvPr/>
        </p:nvSpPr>
        <p:spPr>
          <a:xfrm>
            <a:off x="5310664" y="7312025"/>
            <a:ext cx="2846262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EVALUATED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10664" y="7628255"/>
            <a:ext cx="2846262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668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5310664" y="8161655"/>
            <a:ext cx="2846262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+ 6 Classical + Variants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531225" y="7710170"/>
            <a:ext cx="9525" cy="571500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16" name="Text 14"/>
          <p:cNvSpPr/>
          <p:nvPr/>
        </p:nvSpPr>
        <p:spPr>
          <a:xfrm>
            <a:off x="8997315" y="7312025"/>
            <a:ext cx="1937385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997315" y="7628255"/>
            <a:ext cx="193738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0B7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864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8997315" y="8161655"/>
            <a:ext cx="1937385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Augmented Images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PROBLEM DEFINITION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8829675" cy="11109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Breadboard Quality Control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952500" y="3046412"/>
            <a:ext cx="95250" cy="95250"/>
          </a:xfrm>
          <a:prstGeom prst="ellipse">
            <a:avLst/>
          </a:prstGeom>
          <a:solidFill>
            <a:srgbClr val="009FE6"/>
          </a:solidFill>
          <a:ln/>
        </p:spPr>
      </p:sp>
      <p:sp>
        <p:nvSpPr>
          <p:cNvPr id="5" name="Text 3"/>
          <p:cNvSpPr/>
          <p:nvPr/>
        </p:nvSpPr>
        <p:spPr>
          <a:xfrm>
            <a:off x="1276350" y="2913062"/>
            <a:ext cx="8623649" cy="11687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4975"/>
              </a:lnSpc>
              <a:buNone/>
            </a:pPr>
            <a:r>
              <a:rPr lang="en-US" sz="20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inspection </a:t>
            </a:r>
            <a:pPr algn="l" indent="0" marL="0">
              <a:lnSpc>
                <a:spcPct val="144975"/>
              </a:lnSpc>
              <a:buNone/>
            </a:pPr>
            <a:r>
              <a:rPr lang="en-US" sz="204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breadboard circuits is slow, inconsistent, and error-prone — defective boards reaching downstream processes cause costly failures</a:t>
            </a:r>
            <a:endParaRPr lang="en-US" sz="2040" dirty="0"/>
          </a:p>
        </p:txBody>
      </p:sp>
      <p:sp>
        <p:nvSpPr>
          <p:cNvPr id="6" name="Shape 4"/>
          <p:cNvSpPr/>
          <p:nvPr/>
        </p:nvSpPr>
        <p:spPr>
          <a:xfrm>
            <a:off x="952500" y="4443730"/>
            <a:ext cx="95250" cy="95250"/>
          </a:xfrm>
          <a:prstGeom prst="ellipse">
            <a:avLst/>
          </a:prstGeom>
          <a:solidFill>
            <a:srgbClr val="6684FB"/>
          </a:solidFill>
          <a:ln/>
        </p:spPr>
      </p:sp>
      <p:sp>
        <p:nvSpPr>
          <p:cNvPr id="7" name="Text 5"/>
          <p:cNvSpPr/>
          <p:nvPr/>
        </p:nvSpPr>
        <p:spPr>
          <a:xfrm>
            <a:off x="1276350" y="4310380"/>
            <a:ext cx="8623649" cy="793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4975"/>
              </a:lnSpc>
              <a:buNone/>
            </a:pPr>
            <a:r>
              <a:rPr lang="en-US" sz="20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Inputs: </a:t>
            </a:r>
            <a:pPr algn="l" indent="0" marL="0">
              <a:lnSpc>
                <a:spcPct val="144975"/>
              </a:lnSpc>
              <a:buNone/>
            </a:pPr>
            <a:r>
              <a:rPr lang="en-US" sz="204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Overhead RGB camera images (224×224 px) of assembled breadboard circuits</a:t>
            </a:r>
            <a:endParaRPr lang="en-US" sz="2040" dirty="0"/>
          </a:p>
        </p:txBody>
      </p:sp>
      <p:sp>
        <p:nvSpPr>
          <p:cNvPr id="8" name="Shape 6"/>
          <p:cNvSpPr/>
          <p:nvPr/>
        </p:nvSpPr>
        <p:spPr>
          <a:xfrm>
            <a:off x="952500" y="5465445"/>
            <a:ext cx="95250" cy="95250"/>
          </a:xfrm>
          <a:prstGeom prst="ellipse">
            <a:avLst/>
          </a:prstGeom>
          <a:solidFill>
            <a:srgbClr val="00B764"/>
          </a:solidFill>
          <a:ln/>
        </p:spPr>
      </p:sp>
      <p:sp>
        <p:nvSpPr>
          <p:cNvPr id="9" name="Text 7"/>
          <p:cNvSpPr/>
          <p:nvPr/>
        </p:nvSpPr>
        <p:spPr>
          <a:xfrm>
            <a:off x="1276350" y="5332095"/>
            <a:ext cx="8623649" cy="793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4975"/>
              </a:lnSpc>
              <a:buNone/>
            </a:pPr>
            <a:r>
              <a:rPr lang="en-US" sz="20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</a:t>
            </a:r>
            <a:pPr algn="l" indent="0" marL="0">
              <a:lnSpc>
                <a:spcPct val="144975"/>
              </a:lnSpc>
              <a:buNone/>
            </a:pPr>
            <a:r>
              <a:rPr lang="en-US" sz="204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classification — </a:t>
            </a:r>
            <a:pPr algn="l" indent="0" marL="0">
              <a:lnSpc>
                <a:spcPct val="144975"/>
              </a:lnSpc>
              <a:buNone/>
            </a:pPr>
            <a:r>
              <a:rPr lang="en-US" sz="2040" dirty="0">
                <a:solidFill>
                  <a:srgbClr val="00B7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</a:t>
            </a:r>
            <a:pPr algn="l" indent="0" marL="0">
              <a:lnSpc>
                <a:spcPct val="144975"/>
              </a:lnSpc>
              <a:buNone/>
            </a:pPr>
            <a:r>
              <a:rPr lang="en-US" sz="204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</a:t>
            </a:r>
            <a:pPr algn="l" indent="0" marL="0">
              <a:lnSpc>
                <a:spcPct val="144975"/>
              </a:lnSpc>
              <a:buNone/>
            </a:pPr>
            <a:r>
              <a:rPr lang="en-US" sz="2040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</a:t>
            </a:r>
            <a:pPr algn="l" indent="0" marL="0">
              <a:lnSpc>
                <a:spcPct val="144975"/>
              </a:lnSpc>
              <a:buNone/>
            </a:pPr>
            <a:r>
              <a:rPr lang="en-US" sz="204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with a confidence score, in real time</a:t>
            </a:r>
            <a:endParaRPr lang="en-US" sz="2040" dirty="0"/>
          </a:p>
        </p:txBody>
      </p:sp>
      <p:sp>
        <p:nvSpPr>
          <p:cNvPr id="10" name="Shape 8"/>
          <p:cNvSpPr/>
          <p:nvPr/>
        </p:nvSpPr>
        <p:spPr>
          <a:xfrm>
            <a:off x="952500" y="6487160"/>
            <a:ext cx="95250" cy="95250"/>
          </a:xfrm>
          <a:prstGeom prst="ellipse">
            <a:avLst/>
          </a:prstGeom>
          <a:solidFill>
            <a:srgbClr val="F77F00"/>
          </a:solidFill>
          <a:ln/>
        </p:spPr>
      </p:sp>
      <p:sp>
        <p:nvSpPr>
          <p:cNvPr id="11" name="Text 9"/>
          <p:cNvSpPr/>
          <p:nvPr/>
        </p:nvSpPr>
        <p:spPr>
          <a:xfrm>
            <a:off x="1276350" y="6353810"/>
            <a:ext cx="8623649" cy="807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4975"/>
              </a:lnSpc>
              <a:buNone/>
            </a:pPr>
            <a:r>
              <a:rPr lang="en-US" sz="20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Deployment: </a:t>
            </a:r>
            <a:pPr algn="l" indent="0" marL="0">
              <a:lnSpc>
                <a:spcPct val="144975"/>
              </a:lnSpc>
              <a:buNone/>
            </a:pPr>
            <a:r>
              <a:rPr lang="en-US" sz="204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webcam inference via </a:t>
            </a:r>
            <a:pPr algn="l" indent="0" marL="0">
              <a:lnSpc>
                <a:spcPct val="144975"/>
              </a:lnSpc>
              <a:buNone/>
            </a:pPr>
            <a:r>
              <a:rPr lang="en-US" sz="19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analyzer.py </a:t>
            </a:r>
            <a:pPr algn="l" indent="0" marL="0">
              <a:lnSpc>
                <a:spcPct val="144975"/>
              </a:lnSpc>
              <a:buNone/>
            </a:pPr>
            <a:r>
              <a:rPr lang="en-US" sz="204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with LED indicator and optional robotic arm integration</a:t>
            </a:r>
            <a:endParaRPr lang="en-US" sz="2040" dirty="0"/>
          </a:p>
        </p:txBody>
      </p:sp>
      <p:sp>
        <p:nvSpPr>
          <p:cNvPr id="12" name="Shape 10"/>
          <p:cNvSpPr/>
          <p:nvPr/>
        </p:nvSpPr>
        <p:spPr>
          <a:xfrm>
            <a:off x="10220325" y="2913062"/>
            <a:ext cx="7115175" cy="1668780"/>
          </a:xfrm>
          <a:prstGeom prst="roundRect">
            <a:avLst>
              <a:gd name="adj" fmla="val 9132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85145" y="3301682"/>
            <a:ext cx="6371101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5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0685145" y="3949382"/>
            <a:ext cx="6371101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QC error — defective board ships</a:t>
            </a:r>
            <a:endParaRPr lang="en-US" sz="1680" dirty="0"/>
          </a:p>
        </p:txBody>
      </p:sp>
      <p:sp>
        <p:nvSpPr>
          <p:cNvPr id="15" name="Shape 13"/>
          <p:cNvSpPr/>
          <p:nvPr/>
        </p:nvSpPr>
        <p:spPr>
          <a:xfrm>
            <a:off x="10220325" y="4810442"/>
            <a:ext cx="7115175" cy="1668780"/>
          </a:xfrm>
          <a:prstGeom prst="roundRect">
            <a:avLst>
              <a:gd name="adj" fmla="val 9132"/>
            </a:avLst>
          </a:prstGeom>
          <a:solidFill>
            <a:srgbClr val="0B1318"/>
          </a:solidFill>
          <a:ln w="7620">
            <a:solidFill>
              <a:srgbClr val="1735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85145" y="5199062"/>
            <a:ext cx="6371101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500" b="1" dirty="0">
                <a:solidFill>
                  <a:srgbClr val="00B7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4500" dirty="0"/>
          </a:p>
        </p:txBody>
      </p:sp>
      <p:sp>
        <p:nvSpPr>
          <p:cNvPr id="17" name="Text 15"/>
          <p:cNvSpPr/>
          <p:nvPr/>
        </p:nvSpPr>
        <p:spPr>
          <a:xfrm>
            <a:off x="10685145" y="5846762"/>
            <a:ext cx="6371101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meets quality threshold — cleared</a:t>
            </a:r>
            <a:endParaRPr lang="en-US" sz="1680" dirty="0"/>
          </a:p>
        </p:txBody>
      </p:sp>
      <p:sp>
        <p:nvSpPr>
          <p:cNvPr id="18" name="Shape 16"/>
          <p:cNvSpPr/>
          <p:nvPr/>
        </p:nvSpPr>
        <p:spPr>
          <a:xfrm>
            <a:off x="10220325" y="6707823"/>
            <a:ext cx="7115175" cy="1564322"/>
          </a:xfrm>
          <a:prstGeom prst="roundRect">
            <a:avLst>
              <a:gd name="adj" fmla="val 730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70845" y="6982142"/>
            <a:ext cx="6606559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RELEVANCE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570845" y="7336473"/>
            <a:ext cx="6606559" cy="6994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498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Demonstrates a complete MLOps pipeline applicable to any visual quality inspection task in manufacturing</a:t>
            </a:r>
            <a:endParaRPr lang="en-US" sz="1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COLLECTION &amp; FEATURE REPRESENTATION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16874490" cy="574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Pipeline &amp; Augmentation Strategy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952500" y="2750026"/>
            <a:ext cx="2685891" cy="2068830"/>
          </a:xfrm>
          <a:prstGeom prst="roundRect">
            <a:avLst>
              <a:gd name="adj" fmla="val 5525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64920" y="2986246"/>
            <a:ext cx="2137251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DATASET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64920" y="3340576"/>
            <a:ext cx="2137251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Images</a:t>
            </a:r>
            <a:endParaRPr lang="en-US" sz="1680" dirty="0"/>
          </a:p>
        </p:txBody>
      </p:sp>
      <p:sp>
        <p:nvSpPr>
          <p:cNvPr id="7" name="Text 5"/>
          <p:cNvSpPr/>
          <p:nvPr/>
        </p:nvSpPr>
        <p:spPr>
          <a:xfrm>
            <a:off x="1264920" y="3672046"/>
            <a:ext cx="2137251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PASS · 35 FAIL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64920" y="4064476"/>
            <a:ext cx="2137251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Manually captured overhead shots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790791" y="3582511"/>
            <a:ext cx="419100" cy="441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21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4286091" y="2879566"/>
            <a:ext cx="3048476" cy="1809750"/>
          </a:xfrm>
          <a:prstGeom prst="roundRect">
            <a:avLst>
              <a:gd name="adj" fmla="val 6316"/>
            </a:avLst>
          </a:prstGeom>
          <a:solidFill>
            <a:srgbClr val="0B1318"/>
          </a:solidFill>
          <a:ln w="7620">
            <a:solidFill>
              <a:srgbClr val="0033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8511" y="3115786"/>
            <a:ext cx="2499836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AUGMENTATION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98511" y="3470116"/>
            <a:ext cx="249983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16× Expansion</a:t>
            </a:r>
            <a:endParaRPr lang="en-US" sz="1680" dirty="0"/>
          </a:p>
        </p:txBody>
      </p:sp>
      <p:sp>
        <p:nvSpPr>
          <p:cNvPr id="13" name="Text 11"/>
          <p:cNvSpPr/>
          <p:nvPr/>
        </p:nvSpPr>
        <p:spPr>
          <a:xfrm>
            <a:off x="4598511" y="3801586"/>
            <a:ext cx="2499836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rotations × 2 mirrors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98511" y="4194016"/>
            <a:ext cx="2499836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offline_augmentation.py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486967" y="3582511"/>
            <a:ext cx="419100" cy="441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21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7982267" y="2471896"/>
            <a:ext cx="2686050" cy="2625090"/>
          </a:xfrm>
          <a:prstGeom prst="roundRect">
            <a:avLst>
              <a:gd name="adj" fmla="val 4354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94687" y="2708116"/>
            <a:ext cx="2137410" cy="632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668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AUGMENTED DATASET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94687" y="3359626"/>
            <a:ext cx="21374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864 Images</a:t>
            </a:r>
            <a:endParaRPr lang="en-US" sz="1680" dirty="0"/>
          </a:p>
        </p:txBody>
      </p:sp>
      <p:sp>
        <p:nvSpPr>
          <p:cNvPr id="19" name="Text 17"/>
          <p:cNvSpPr/>
          <p:nvPr/>
        </p:nvSpPr>
        <p:spPr>
          <a:xfrm>
            <a:off x="8294687" y="3691096"/>
            <a:ext cx="2137410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304 PASS · 560 FAIL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294687" y="4342606"/>
            <a:ext cx="2137410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ratio preserved ~35/65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820717" y="3582511"/>
            <a:ext cx="419100" cy="441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21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22" name="Shape 20"/>
          <p:cNvSpPr/>
          <p:nvPr/>
        </p:nvSpPr>
        <p:spPr>
          <a:xfrm>
            <a:off x="11316017" y="2879566"/>
            <a:ext cx="2685891" cy="1809750"/>
          </a:xfrm>
          <a:prstGeom prst="roundRect">
            <a:avLst>
              <a:gd name="adj" fmla="val 6316"/>
            </a:avLst>
          </a:prstGeom>
          <a:solidFill>
            <a:srgbClr val="010B11"/>
          </a:solidFill>
          <a:ln w="7620">
            <a:solidFill>
              <a:srgbClr val="002E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628438" y="3115786"/>
            <a:ext cx="2137251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BRANCH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628438" y="3470116"/>
            <a:ext cx="2137251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224×224×3</a:t>
            </a:r>
            <a:endParaRPr lang="en-US" sz="1680" dirty="0"/>
          </a:p>
        </p:txBody>
      </p:sp>
      <p:sp>
        <p:nvSpPr>
          <p:cNvPr id="25" name="Text 23"/>
          <p:cNvSpPr/>
          <p:nvPr/>
        </p:nvSpPr>
        <p:spPr>
          <a:xfrm>
            <a:off x="11628438" y="3801586"/>
            <a:ext cx="2137251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150,528 input dims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628438" y="4194016"/>
            <a:ext cx="2137251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/ 15 / 15 split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4154308" y="3582511"/>
            <a:ext cx="419100" cy="441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00" dirty="0">
                <a:solidFill>
                  <a:srgbClr val="21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700" dirty="0"/>
          </a:p>
        </p:txBody>
      </p:sp>
      <p:sp>
        <p:nvSpPr>
          <p:cNvPr id="28" name="Shape 26"/>
          <p:cNvSpPr/>
          <p:nvPr/>
        </p:nvSpPr>
        <p:spPr>
          <a:xfrm>
            <a:off x="14649608" y="2601436"/>
            <a:ext cx="2685891" cy="2366010"/>
          </a:xfrm>
          <a:prstGeom prst="roundRect">
            <a:avLst>
              <a:gd name="adj" fmla="val 4831"/>
            </a:avLst>
          </a:prstGeom>
          <a:solidFill>
            <a:srgbClr val="020C0A"/>
          </a:solidFill>
          <a:ln w="7620">
            <a:solidFill>
              <a:srgbClr val="00332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4962029" y="2837656"/>
            <a:ext cx="2137251" cy="632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668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ML BRANCH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4962029" y="3489166"/>
            <a:ext cx="2137251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64×64×3</a:t>
            </a:r>
            <a:endParaRPr lang="en-US" sz="1680" dirty="0"/>
          </a:p>
        </p:txBody>
      </p:sp>
      <p:sp>
        <p:nvSpPr>
          <p:cNvPr id="31" name="Text 29"/>
          <p:cNvSpPr/>
          <p:nvPr/>
        </p:nvSpPr>
        <p:spPr>
          <a:xfrm>
            <a:off x="14962029" y="3820636"/>
            <a:ext cx="2137251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12,288 input dims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4962029" y="4213066"/>
            <a:ext cx="2137251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Flattened pixel vector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952500" y="5592287"/>
            <a:ext cx="5207000" cy="2052003"/>
          </a:xfrm>
          <a:prstGeom prst="roundRect">
            <a:avLst>
              <a:gd name="adj" fmla="val 5570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41120" y="5904706"/>
            <a:ext cx="4562653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DIMENSIONALITY REDUCTION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341120" y="6259037"/>
            <a:ext cx="4562653" cy="1069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PCA reduced classical ML input to </a:t>
            </a:r>
            <a:pPr algn="l" indent="0" marL="0">
              <a:lnSpc>
                <a:spcPct val="159970"/>
              </a:lnSpc>
              <a:buNone/>
            </a:pPr>
            <a:r>
              <a:rPr lang="en-US" sz="1680" b="1" dirty="0">
                <a:solidFill>
                  <a:srgbClr val="668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components </a:t>
            </a:r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capturing </a:t>
            </a:r>
            <a:pPr algn="l" indent="0" marL="0">
              <a:lnSpc>
                <a:spcPct val="159970"/>
              </a:lnSpc>
              <a:buNone/>
            </a:pPr>
            <a:r>
              <a:rPr lang="en-US" sz="1680" b="1" dirty="0">
                <a:solidFill>
                  <a:srgbClr val="668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87.1% </a:t>
            </a:r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variance, enabling Newton's method optimisation</a:t>
            </a:r>
            <a:endParaRPr lang="en-US" sz="1680" dirty="0"/>
          </a:p>
        </p:txBody>
      </p:sp>
      <p:sp>
        <p:nvSpPr>
          <p:cNvPr id="36" name="Shape 34"/>
          <p:cNvSpPr/>
          <p:nvPr/>
        </p:nvSpPr>
        <p:spPr>
          <a:xfrm>
            <a:off x="6540500" y="5592287"/>
            <a:ext cx="5207000" cy="2052003"/>
          </a:xfrm>
          <a:prstGeom prst="roundRect">
            <a:avLst>
              <a:gd name="adj" fmla="val 5570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29120" y="5904706"/>
            <a:ext cx="4562653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PREPROCESSING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929120" y="6259037"/>
            <a:ext cx="4562653" cy="11109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CNN: Keras </a:t>
            </a:r>
            <a:pPr algn="l" indent="0" marL="0">
              <a:lnSpc>
                <a:spcPct val="159970"/>
              </a:lnSpc>
              <a:buNone/>
            </a:pPr>
            <a:r>
              <a:rPr lang="en-US" sz="18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Rescaling(÷255) </a:t>
            </a:r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layer. Classical ML: </a:t>
            </a:r>
            <a:pPr algn="l" indent="0" marL="0">
              <a:lnSpc>
                <a:spcPct val="159970"/>
              </a:lnSpc>
              <a:buNone/>
            </a:pPr>
            <a:r>
              <a:rPr lang="en-US" sz="18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StandardScaler </a:t>
            </a:r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normalisation before all classifiers</a:t>
            </a:r>
            <a:endParaRPr lang="en-US" sz="1680" dirty="0"/>
          </a:p>
        </p:txBody>
      </p:sp>
      <p:sp>
        <p:nvSpPr>
          <p:cNvPr id="39" name="Shape 37"/>
          <p:cNvSpPr/>
          <p:nvPr/>
        </p:nvSpPr>
        <p:spPr>
          <a:xfrm>
            <a:off x="12128500" y="5592287"/>
            <a:ext cx="5207000" cy="2052003"/>
          </a:xfrm>
          <a:prstGeom prst="roundRect">
            <a:avLst>
              <a:gd name="adj" fmla="val 5570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2517120" y="5904706"/>
            <a:ext cx="4562653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IMBALANCE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2517120" y="6259037"/>
            <a:ext cx="4562653" cy="1062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PASS / 65% FAIL distribution preserved through augmentation — reflects real-world defect prevalence in QC scenarios</a:t>
            </a:r>
            <a:endParaRPr lang="en-US" sz="16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 DESIGN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16874490" cy="574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Convolutional Neural Network Architecture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876300" y="2548096"/>
            <a:ext cx="160020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spc="144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667000" y="2376646"/>
            <a:ext cx="7658100" cy="601980"/>
          </a:xfrm>
          <a:prstGeom prst="roundRect">
            <a:avLst>
              <a:gd name="adj" fmla="val 12658"/>
            </a:avLst>
          </a:prstGeom>
          <a:solidFill>
            <a:srgbClr val="0E171E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41320" y="2555716"/>
            <a:ext cx="733920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 × 224 × 3 </a:t>
            </a:r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RGB image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76300" y="3302476"/>
            <a:ext cx="160020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spc="144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RESCALE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667000" y="3131026"/>
            <a:ext cx="7658100" cy="601980"/>
          </a:xfrm>
          <a:prstGeom prst="roundRect">
            <a:avLst>
              <a:gd name="adj" fmla="val 12658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41320" y="3310096"/>
            <a:ext cx="733920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÷255 normalisation</a:t>
            </a:r>
            <a:endParaRPr lang="en-US" sz="1680" dirty="0"/>
          </a:p>
        </p:txBody>
      </p:sp>
      <p:sp>
        <p:nvSpPr>
          <p:cNvPr id="10" name="Text 8"/>
          <p:cNvSpPr/>
          <p:nvPr/>
        </p:nvSpPr>
        <p:spPr>
          <a:xfrm>
            <a:off x="876300" y="3927316"/>
            <a:ext cx="1600200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spc="144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 BLOCK 1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667000" y="3885406"/>
            <a:ext cx="7658100" cy="601980"/>
          </a:xfrm>
          <a:prstGeom prst="roundRect">
            <a:avLst>
              <a:gd name="adj" fmla="val 12658"/>
            </a:avLst>
          </a:prstGeom>
          <a:solidFill>
            <a:srgbClr val="000D15"/>
          </a:solidFill>
          <a:ln w="7620">
            <a:solidFill>
              <a:srgbClr val="002E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1320" y="4064476"/>
            <a:ext cx="733920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Conv2D(32, 3×3, ReLU) </a:t>
            </a:r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MaxPool(2×2)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6300" y="4681696"/>
            <a:ext cx="1600200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spc="144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 BLOCK 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667000" y="4639786"/>
            <a:ext cx="7658100" cy="601980"/>
          </a:xfrm>
          <a:prstGeom prst="roundRect">
            <a:avLst>
              <a:gd name="adj" fmla="val 12658"/>
            </a:avLst>
          </a:prstGeom>
          <a:solidFill>
            <a:srgbClr val="000D15"/>
          </a:solidFill>
          <a:ln w="7620">
            <a:solidFill>
              <a:srgbClr val="002E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41320" y="4818856"/>
            <a:ext cx="733920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Conv2D(64, 3×3, ReLU) </a:t>
            </a:r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MaxPool(2×2)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6300" y="5436076"/>
            <a:ext cx="1600200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spc="144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 BLOCK 3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667000" y="5394166"/>
            <a:ext cx="7658100" cy="601980"/>
          </a:xfrm>
          <a:prstGeom prst="roundRect">
            <a:avLst>
              <a:gd name="adj" fmla="val 12658"/>
            </a:avLst>
          </a:prstGeom>
          <a:solidFill>
            <a:srgbClr val="000D15"/>
          </a:solidFill>
          <a:ln w="7620">
            <a:solidFill>
              <a:srgbClr val="002E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41320" y="5573236"/>
            <a:ext cx="733920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Conv2D(128, 3×3, ReLU) </a:t>
            </a:r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MaxPool(2×2)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76300" y="6319996"/>
            <a:ext cx="160020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spc="144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FLATTEN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667000" y="6148546"/>
            <a:ext cx="7658100" cy="601980"/>
          </a:xfrm>
          <a:prstGeom prst="roundRect">
            <a:avLst>
              <a:gd name="adj" fmla="val 12658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941320" y="6327616"/>
            <a:ext cx="733920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map → 1D vector</a:t>
            </a:r>
            <a:endParaRPr lang="en-US" sz="1680" dirty="0"/>
          </a:p>
        </p:txBody>
      </p:sp>
      <p:sp>
        <p:nvSpPr>
          <p:cNvPr id="22" name="Text 20"/>
          <p:cNvSpPr/>
          <p:nvPr/>
        </p:nvSpPr>
        <p:spPr>
          <a:xfrm>
            <a:off x="876300" y="7074376"/>
            <a:ext cx="160020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spc="144" kern="0" dirty="0">
                <a:solidFill>
                  <a:srgbClr val="668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2667000" y="6902926"/>
            <a:ext cx="7658100" cy="601980"/>
          </a:xfrm>
          <a:prstGeom prst="roundRect">
            <a:avLst>
              <a:gd name="adj" fmla="val 12658"/>
            </a:avLst>
          </a:prstGeom>
          <a:solidFill>
            <a:srgbClr val="000C0A"/>
          </a:solidFill>
          <a:ln w="7620">
            <a:solidFill>
              <a:srgbClr val="00332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41320" y="7081996"/>
            <a:ext cx="733920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668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Dense(128, ReLU) </a:t>
            </a:r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Dropout(0.5)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76300" y="7828756"/>
            <a:ext cx="1600200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spc="144" kern="0" dirty="0">
                <a:solidFill>
                  <a:srgbClr val="00B7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2667000" y="7657306"/>
            <a:ext cx="7658100" cy="601980"/>
          </a:xfrm>
          <a:prstGeom prst="roundRect">
            <a:avLst>
              <a:gd name="adj" fmla="val 12658"/>
            </a:avLst>
          </a:prstGeom>
          <a:solidFill>
            <a:srgbClr val="020C05"/>
          </a:solidFill>
          <a:ln w="7620">
            <a:solidFill>
              <a:srgbClr val="00331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41320" y="7836376"/>
            <a:ext cx="733920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00B7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Dense(2, Softmax) </a:t>
            </a:r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PASS / FAIL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1087100" y="2376646"/>
            <a:ext cx="6248400" cy="2724785"/>
          </a:xfrm>
          <a:prstGeom prst="roundRect">
            <a:avLst>
              <a:gd name="adj" fmla="val 5593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551920" y="2765266"/>
            <a:ext cx="547832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Configuration</a:t>
            </a:r>
            <a:endParaRPr lang="en-US" sz="1680" dirty="0"/>
          </a:p>
        </p:txBody>
      </p:sp>
      <p:sp>
        <p:nvSpPr>
          <p:cNvPr id="30" name="Text 28"/>
          <p:cNvSpPr/>
          <p:nvPr/>
        </p:nvSpPr>
        <p:spPr>
          <a:xfrm>
            <a:off x="11551920" y="3161506"/>
            <a:ext cx="5478323" cy="4259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998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Optimiser: </a:t>
            </a:r>
            <a:pPr algn="l" indent="0" marL="0">
              <a:lnSpc>
                <a:spcPct val="179985"/>
              </a:lnSpc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Adam </a:t>
            </a:r>
            <a:pPr algn="l" indent="0" marL="0">
              <a:lnSpc>
                <a:spcPct val="17998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(lr = 0.001)</a:t>
            </a:r>
            <a:endParaRPr lang="en-US" sz="1680" dirty="0"/>
          </a:p>
        </p:txBody>
      </p:sp>
      <p:sp>
        <p:nvSpPr>
          <p:cNvPr id="31" name="Text 29"/>
          <p:cNvSpPr/>
          <p:nvPr/>
        </p:nvSpPr>
        <p:spPr>
          <a:xfrm>
            <a:off x="11551920" y="3549332"/>
            <a:ext cx="5478323" cy="4259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998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Loss: </a:t>
            </a:r>
            <a:pPr algn="l" indent="0" marL="0">
              <a:lnSpc>
                <a:spcPct val="179985"/>
              </a:lnSpc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Sparse Categorical CE</a:t>
            </a:r>
            <a:endParaRPr lang="en-US" sz="1680" dirty="0"/>
          </a:p>
        </p:txBody>
      </p:sp>
      <p:sp>
        <p:nvSpPr>
          <p:cNvPr id="32" name="Text 30"/>
          <p:cNvSpPr/>
          <p:nvPr/>
        </p:nvSpPr>
        <p:spPr>
          <a:xfrm>
            <a:off x="11551920" y="3937159"/>
            <a:ext cx="5478323" cy="4259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998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Stopping: </a:t>
            </a:r>
            <a:pPr algn="l" indent="0" marL="0">
              <a:lnSpc>
                <a:spcPct val="179985"/>
              </a:lnSpc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patience = 3</a:t>
            </a:r>
            <a:endParaRPr lang="en-US" sz="1680" dirty="0"/>
          </a:p>
        </p:txBody>
      </p:sp>
      <p:sp>
        <p:nvSpPr>
          <p:cNvPr id="33" name="Text 31"/>
          <p:cNvSpPr/>
          <p:nvPr/>
        </p:nvSpPr>
        <p:spPr>
          <a:xfrm>
            <a:off x="11551920" y="4324985"/>
            <a:ext cx="5478323" cy="4259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998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Split: </a:t>
            </a:r>
            <a:pPr algn="l" indent="0" marL="0">
              <a:lnSpc>
                <a:spcPct val="179985"/>
              </a:lnSpc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/ 15 / 15</a:t>
            </a:r>
            <a:endParaRPr lang="en-US" sz="1680" dirty="0"/>
          </a:p>
        </p:txBody>
      </p:sp>
      <p:sp>
        <p:nvSpPr>
          <p:cNvPr id="34" name="Shape 32"/>
          <p:cNvSpPr/>
          <p:nvPr/>
        </p:nvSpPr>
        <p:spPr>
          <a:xfrm>
            <a:off x="11087100" y="5368131"/>
            <a:ext cx="6248400" cy="2606040"/>
          </a:xfrm>
          <a:prstGeom prst="roundRect">
            <a:avLst>
              <a:gd name="adj" fmla="val 5848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551920" y="5756751"/>
            <a:ext cx="547832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Performance</a:t>
            </a:r>
            <a:endParaRPr lang="en-US" sz="1680" dirty="0"/>
          </a:p>
        </p:txBody>
      </p:sp>
      <p:sp>
        <p:nvSpPr>
          <p:cNvPr id="36" name="Text 34"/>
          <p:cNvSpPr/>
          <p:nvPr/>
        </p:nvSpPr>
        <p:spPr>
          <a:xfrm>
            <a:off x="11551920" y="6152991"/>
            <a:ext cx="5478323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87.02</a:t>
            </a:r>
            <a:pPr algn="l"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6000" dirty="0"/>
          </a:p>
        </p:txBody>
      </p:sp>
      <p:sp>
        <p:nvSpPr>
          <p:cNvPr id="37" name="Text 35"/>
          <p:cNvSpPr/>
          <p:nvPr/>
        </p:nvSpPr>
        <p:spPr>
          <a:xfrm>
            <a:off x="11551920" y="6991191"/>
            <a:ext cx="5478323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accuracy · F1 = 0.86</a:t>
            </a:r>
            <a:endParaRPr lang="en-US" sz="1680" dirty="0"/>
          </a:p>
        </p:txBody>
      </p:sp>
      <p:sp>
        <p:nvSpPr>
          <p:cNvPr id="38" name="Text 36"/>
          <p:cNvSpPr/>
          <p:nvPr/>
        </p:nvSpPr>
        <p:spPr>
          <a:xfrm>
            <a:off x="11551920" y="7311231"/>
            <a:ext cx="5478323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recall = </a:t>
            </a:r>
            <a:pPr algn="l" indent="0" marL="0">
              <a:buNone/>
            </a:pPr>
            <a:r>
              <a:rPr lang="en-US" sz="1680" b="1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1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 OPTIMISATION — ACTIVATION FUNCTIONS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16874490" cy="574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 vs. Tanh — Activation Analysis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952500" y="2376646"/>
            <a:ext cx="7905750" cy="4194810"/>
          </a:xfrm>
          <a:prstGeom prst="roundRect">
            <a:avLst>
              <a:gd name="adj" fmla="val 3633"/>
            </a:avLst>
          </a:prstGeom>
          <a:solidFill>
            <a:srgbClr val="010B11"/>
          </a:solidFill>
          <a:ln w="7620">
            <a:solidFill>
              <a:srgbClr val="0039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55420" y="2803366"/>
            <a:ext cx="7106908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55420" y="3291046"/>
            <a:ext cx="7106908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91.41</a:t>
            </a:r>
            <a:pPr algn="l"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1455420" y="4319746"/>
            <a:ext cx="710690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 — Rectified Linear Unit</a:t>
            </a:r>
            <a:endParaRPr lang="en-US" sz="1680" dirty="0"/>
          </a:p>
        </p:txBody>
      </p:sp>
      <p:sp>
        <p:nvSpPr>
          <p:cNvPr id="8" name="Shape 6"/>
          <p:cNvSpPr/>
          <p:nvPr/>
        </p:nvSpPr>
        <p:spPr>
          <a:xfrm>
            <a:off x="1455420" y="4754086"/>
            <a:ext cx="6899910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9" name="Text 7"/>
          <p:cNvSpPr/>
          <p:nvPr/>
        </p:nvSpPr>
        <p:spPr>
          <a:xfrm>
            <a:off x="1455420" y="4952206"/>
            <a:ext cx="7106908" cy="4038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f(x) = max(0, x)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55420" y="5413216"/>
            <a:ext cx="7106908" cy="769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Avoids vanishing gradients in deeper layers. Sparse activation supports efficient feature learning in 3-conv architecture.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429750" y="2376646"/>
            <a:ext cx="7905750" cy="4560570"/>
          </a:xfrm>
          <a:prstGeom prst="roundRect">
            <a:avLst>
              <a:gd name="adj" fmla="val 3342"/>
            </a:avLst>
          </a:prstGeom>
          <a:solidFill>
            <a:srgbClr val="0B1318">
              <a:alpha val="85000"/>
            </a:srgbClr>
          </a:solidFill>
          <a:ln w="7620">
            <a:solidFill>
              <a:srgbClr val="212A31">
                <a:alpha val="8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32670" y="2803366"/>
            <a:ext cx="7106908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UNDERPERFORMED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932670" y="3291046"/>
            <a:ext cx="7106908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65.63</a:t>
            </a:r>
            <a:pPr algn="l"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9932670" y="4319746"/>
            <a:ext cx="710690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Tanh — Hyperbolic Tangent</a:t>
            </a:r>
            <a:endParaRPr lang="en-US" sz="1680" dirty="0"/>
          </a:p>
        </p:txBody>
      </p:sp>
      <p:sp>
        <p:nvSpPr>
          <p:cNvPr id="15" name="Shape 13"/>
          <p:cNvSpPr/>
          <p:nvPr/>
        </p:nvSpPr>
        <p:spPr>
          <a:xfrm>
            <a:off x="9932670" y="4754086"/>
            <a:ext cx="6899910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16" name="Text 14"/>
          <p:cNvSpPr/>
          <p:nvPr/>
        </p:nvSpPr>
        <p:spPr>
          <a:xfrm>
            <a:off x="9932670" y="4952206"/>
            <a:ext cx="7106908" cy="4038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f(x) = (eˣ − e⁻ˣ) / (eˣ + e⁻ˣ)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932670" y="5413216"/>
            <a:ext cx="7106908" cy="11353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Converged to </a:t>
            </a:r>
            <a:pPr algn="l" indent="0" marL="0">
              <a:lnSpc>
                <a:spcPct val="160000"/>
              </a:lnSpc>
              <a:buNone/>
            </a:pPr>
            <a:r>
              <a:rPr lang="en-US" sz="1800" b="1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majority-class baseline </a:t>
            </a:r>
            <a:pPr algn="l"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failed to learn discriminative features. Vanishing gradients in the 3-conv stack saturated weights, preventing meaningful updates.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52500" y="8336280"/>
            <a:ext cx="16383000" cy="1188720"/>
          </a:xfrm>
          <a:prstGeom prst="roundRect">
            <a:avLst>
              <a:gd name="adj" fmla="val 9615"/>
            </a:avLst>
          </a:prstGeom>
          <a:solidFill>
            <a:srgbClr val="060E15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41120" y="8793480"/>
            <a:ext cx="2426176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 percentage points</a:t>
            </a:r>
            <a:endParaRPr lang="en-US" sz="1680" dirty="0"/>
          </a:p>
        </p:txBody>
      </p:sp>
      <p:sp>
        <p:nvSpPr>
          <p:cNvPr id="20" name="Shape 18"/>
          <p:cNvSpPr/>
          <p:nvPr/>
        </p:nvSpPr>
        <p:spPr>
          <a:xfrm>
            <a:off x="4072096" y="8740140"/>
            <a:ext cx="9525" cy="381000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21" name="Text 19"/>
          <p:cNvSpPr/>
          <p:nvPr/>
        </p:nvSpPr>
        <p:spPr>
          <a:xfrm>
            <a:off x="4460875" y="8610600"/>
            <a:ext cx="12860585" cy="678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 outperformed Tanh by a 25.78pp margin — a decisive gap confirming that ReLU's resistance to vanishing gradients is critical even in a shallow 3-block CNN</a:t>
            </a:r>
            <a:endParaRPr lang="en-US" sz="16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 OPTIMISATION — ALGORITHMS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16874490" cy="574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Optimisation Algorithm Comparison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952500" y="2376646"/>
            <a:ext cx="804481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spc="101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 — CNN</a:t>
            </a:r>
            <a:endParaRPr lang="en-US" sz="1680" dirty="0"/>
          </a:p>
        </p:txBody>
      </p:sp>
      <p:sp>
        <p:nvSpPr>
          <p:cNvPr id="5" name="Text 3"/>
          <p:cNvSpPr/>
          <p:nvPr/>
        </p:nvSpPr>
        <p:spPr>
          <a:xfrm>
            <a:off x="952500" y="295195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Adam</a:t>
            </a:r>
            <a:endParaRPr lang="en-US" sz="1680" dirty="0"/>
          </a:p>
        </p:txBody>
      </p:sp>
      <p:sp>
        <p:nvSpPr>
          <p:cNvPr id="6" name="Shape 4"/>
          <p:cNvSpPr/>
          <p:nvPr/>
        </p:nvSpPr>
        <p:spPr>
          <a:xfrm>
            <a:off x="3848100" y="291766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55720" y="2925286"/>
            <a:ext cx="3573145" cy="327660"/>
          </a:xfrm>
          <a:prstGeom prst="roundRect">
            <a:avLst>
              <a:gd name="adj" fmla="val 17442"/>
            </a:avLst>
          </a:prstGeom>
          <a:solidFill>
            <a:srgbClr val="009FE6"/>
          </a:solidFill>
          <a:ln/>
        </p:spPr>
      </p:sp>
      <p:sp>
        <p:nvSpPr>
          <p:cNvPr id="8" name="Text 6"/>
          <p:cNvSpPr/>
          <p:nvPr/>
        </p:nvSpPr>
        <p:spPr>
          <a:xfrm>
            <a:off x="7924800" y="295195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91.41%</a:t>
            </a:r>
            <a:endParaRPr lang="en-US" sz="1680" dirty="0"/>
          </a:p>
        </p:txBody>
      </p:sp>
      <p:sp>
        <p:nvSpPr>
          <p:cNvPr id="9" name="Text 7"/>
          <p:cNvSpPr/>
          <p:nvPr/>
        </p:nvSpPr>
        <p:spPr>
          <a:xfrm>
            <a:off x="952500" y="346630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SGD</a:t>
            </a:r>
            <a:endParaRPr lang="en-US" sz="1680" dirty="0"/>
          </a:p>
        </p:txBody>
      </p:sp>
      <p:sp>
        <p:nvSpPr>
          <p:cNvPr id="10" name="Shape 8"/>
          <p:cNvSpPr/>
          <p:nvPr/>
        </p:nvSpPr>
        <p:spPr>
          <a:xfrm>
            <a:off x="3848100" y="343201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55720" y="3439636"/>
            <a:ext cx="2565082" cy="327660"/>
          </a:xfrm>
          <a:prstGeom prst="roundRect">
            <a:avLst>
              <a:gd name="adj" fmla="val 17442"/>
            </a:avLst>
          </a:prstGeom>
          <a:solidFill>
            <a:srgbClr val="80878D">
              <a:alpha val="5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7924800" y="346630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65.62%</a:t>
            </a:r>
            <a:endParaRPr lang="en-US" sz="1680" dirty="0"/>
          </a:p>
        </p:txBody>
      </p:sp>
      <p:sp>
        <p:nvSpPr>
          <p:cNvPr id="13" name="Shape 11"/>
          <p:cNvSpPr/>
          <p:nvPr/>
        </p:nvSpPr>
        <p:spPr>
          <a:xfrm>
            <a:off x="952500" y="4041616"/>
            <a:ext cx="7810500" cy="1158875"/>
          </a:xfrm>
          <a:prstGeom prst="roundRect">
            <a:avLst>
              <a:gd name="adj" fmla="val 8219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64920" y="4277836"/>
            <a:ext cx="7401230" cy="724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9970"/>
              </a:lnSpc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Adam </a:t>
            </a:r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's adaptive per-parameter learning rates handled sparse gradients and class imbalance far better than fixed-step SGD</a:t>
            </a:r>
            <a:endParaRPr lang="en-US" sz="1680" dirty="0"/>
          </a:p>
        </p:txBody>
      </p:sp>
      <p:sp>
        <p:nvSpPr>
          <p:cNvPr id="15" name="Text 13"/>
          <p:cNvSpPr/>
          <p:nvPr/>
        </p:nvSpPr>
        <p:spPr>
          <a:xfrm>
            <a:off x="9525000" y="2376646"/>
            <a:ext cx="804481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spc="101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ML — LOGISTIC REG ON PCA-50</a:t>
            </a:r>
            <a:endParaRPr lang="en-US" sz="1680" dirty="0"/>
          </a:p>
        </p:txBody>
      </p:sp>
      <p:sp>
        <p:nvSpPr>
          <p:cNvPr id="16" name="Text 14"/>
          <p:cNvSpPr/>
          <p:nvPr/>
        </p:nvSpPr>
        <p:spPr>
          <a:xfrm>
            <a:off x="9525000" y="295195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Newton's Method</a:t>
            </a:r>
            <a:endParaRPr lang="en-US" sz="1680" dirty="0"/>
          </a:p>
        </p:txBody>
      </p:sp>
      <p:sp>
        <p:nvSpPr>
          <p:cNvPr id="17" name="Shape 15"/>
          <p:cNvSpPr/>
          <p:nvPr/>
        </p:nvSpPr>
        <p:spPr>
          <a:xfrm>
            <a:off x="12420600" y="291766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428220" y="2925286"/>
            <a:ext cx="2869565" cy="327660"/>
          </a:xfrm>
          <a:prstGeom prst="roundRect">
            <a:avLst>
              <a:gd name="adj" fmla="val 17442"/>
            </a:avLst>
          </a:prstGeom>
          <a:solidFill>
            <a:srgbClr val="6684FB"/>
          </a:solidFill>
          <a:ln/>
        </p:spPr>
      </p:sp>
      <p:sp>
        <p:nvSpPr>
          <p:cNvPr id="19" name="Text 17"/>
          <p:cNvSpPr/>
          <p:nvPr/>
        </p:nvSpPr>
        <p:spPr>
          <a:xfrm>
            <a:off x="16497300" y="295195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73.41%</a:t>
            </a:r>
            <a:endParaRPr lang="en-US" sz="1680" dirty="0"/>
          </a:p>
        </p:txBody>
      </p:sp>
      <p:sp>
        <p:nvSpPr>
          <p:cNvPr id="20" name="Text 18"/>
          <p:cNvSpPr/>
          <p:nvPr/>
        </p:nvSpPr>
        <p:spPr>
          <a:xfrm>
            <a:off x="9525000" y="346630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 Search</a:t>
            </a:r>
            <a:endParaRPr lang="en-US" sz="1680" dirty="0"/>
          </a:p>
        </p:txBody>
      </p:sp>
      <p:sp>
        <p:nvSpPr>
          <p:cNvPr id="21" name="Shape 19"/>
          <p:cNvSpPr/>
          <p:nvPr/>
        </p:nvSpPr>
        <p:spPr>
          <a:xfrm>
            <a:off x="12420600" y="343201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428220" y="3439636"/>
            <a:ext cx="2711291" cy="327660"/>
          </a:xfrm>
          <a:prstGeom prst="roundRect">
            <a:avLst>
              <a:gd name="adj" fmla="val 17442"/>
            </a:avLst>
          </a:prstGeom>
          <a:solidFill>
            <a:srgbClr val="80878D">
              <a:alpha val="5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6497300" y="346630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69.36%</a:t>
            </a:r>
            <a:endParaRPr lang="en-US" sz="1680" dirty="0"/>
          </a:p>
        </p:txBody>
      </p:sp>
      <p:sp>
        <p:nvSpPr>
          <p:cNvPr id="24" name="Text 22"/>
          <p:cNvSpPr/>
          <p:nvPr/>
        </p:nvSpPr>
        <p:spPr>
          <a:xfrm>
            <a:off x="9525000" y="398065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</a:t>
            </a:r>
            <a:endParaRPr lang="en-US" sz="1680" dirty="0"/>
          </a:p>
        </p:txBody>
      </p:sp>
      <p:sp>
        <p:nvSpPr>
          <p:cNvPr id="25" name="Shape 23"/>
          <p:cNvSpPr/>
          <p:nvPr/>
        </p:nvSpPr>
        <p:spPr>
          <a:xfrm>
            <a:off x="12420600" y="394636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428220" y="3953986"/>
            <a:ext cx="2576036" cy="327660"/>
          </a:xfrm>
          <a:prstGeom prst="roundRect">
            <a:avLst>
              <a:gd name="adj" fmla="val 17442"/>
            </a:avLst>
          </a:prstGeom>
          <a:solidFill>
            <a:srgbClr val="E64343">
              <a:alpha val="7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16497300" y="398065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65.90%</a:t>
            </a:r>
            <a:endParaRPr lang="en-US" sz="1680" dirty="0"/>
          </a:p>
        </p:txBody>
      </p:sp>
      <p:sp>
        <p:nvSpPr>
          <p:cNvPr id="28" name="Shape 26"/>
          <p:cNvSpPr/>
          <p:nvPr/>
        </p:nvSpPr>
        <p:spPr>
          <a:xfrm>
            <a:off x="9525000" y="4555966"/>
            <a:ext cx="7810500" cy="1514475"/>
          </a:xfrm>
          <a:prstGeom prst="roundRect">
            <a:avLst>
              <a:gd name="adj" fmla="val 6289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99320" y="4754086"/>
            <a:ext cx="7479716" cy="11563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diverged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lr=0.01. Newton's converged in </a:t>
            </a:r>
            <a:pPr algn="l" indent="0" marL="0">
              <a:lnSpc>
                <a:spcPct val="150000"/>
              </a:lnSpc>
              <a:buNone/>
            </a:pPr>
            <a:r>
              <a:rPr lang="en-US" sz="1950" b="1" dirty="0">
                <a:solidFill>
                  <a:srgbClr val="668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iterations </a:t>
            </a:r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Hessian-scaled steps — feasible because PCA reduced dims to 50</a:t>
            </a:r>
            <a:endParaRPr lang="en-US" sz="1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HYPERPARAMETER TUNING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16874490" cy="574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Keras Tuner RandomSearch — Best CNN Configuration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952500" y="2376646"/>
            <a:ext cx="8044815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→ TUNED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2500" y="2864326"/>
            <a:ext cx="2150904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52500" y="3180556"/>
            <a:ext cx="2150904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87.02</a:t>
            </a:r>
            <a:pPr algn="l" indent="0" marL="0">
              <a:buNone/>
            </a:pPr>
            <a:r>
              <a:rPr lang="en-US" sz="3000" b="1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3332004" y="3197701"/>
            <a:ext cx="533400" cy="563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dirty="0">
                <a:solidFill>
                  <a:srgbClr val="21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094004" y="2864326"/>
            <a:ext cx="2178209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(val)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094004" y="3180556"/>
            <a:ext cx="2178209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93.75</a:t>
            </a:r>
            <a:pPr algn="l" indent="0" marL="0">
              <a:buNone/>
            </a:pPr>
            <a:r>
              <a:rPr lang="en-US" sz="30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6500813" y="3220561"/>
            <a:ext cx="1198245" cy="480060"/>
          </a:xfrm>
          <a:prstGeom prst="roundRect">
            <a:avLst>
              <a:gd name="adj" fmla="val 15873"/>
            </a:avLst>
          </a:prstGeom>
          <a:solidFill>
            <a:srgbClr val="051B0E"/>
          </a:solidFill>
          <a:ln w="7620">
            <a:solidFill>
              <a:srgbClr val="05381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9883" y="3323431"/>
            <a:ext cx="91630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B7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+6.73pp</a:t>
            </a:r>
            <a:endParaRPr lang="en-US" sz="1680" dirty="0"/>
          </a:p>
        </p:txBody>
      </p:sp>
      <p:sp>
        <p:nvSpPr>
          <p:cNvPr id="12" name="Text 10"/>
          <p:cNvSpPr/>
          <p:nvPr/>
        </p:nvSpPr>
        <p:spPr>
          <a:xfrm>
            <a:off x="952500" y="4514056"/>
            <a:ext cx="8044815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SPACE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52500" y="5447506"/>
            <a:ext cx="4591367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5039837"/>
            <a:ext cx="4348108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HYPERPARAMETER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543867" y="5447506"/>
            <a:ext cx="3219133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16" name="Text 14"/>
          <p:cNvSpPr/>
          <p:nvPr/>
        </p:nvSpPr>
        <p:spPr>
          <a:xfrm>
            <a:off x="5734367" y="5039837"/>
            <a:ext cx="2934707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VALUE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52500" y="5455126"/>
            <a:ext cx="4591367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18" name="Shape 16"/>
          <p:cNvSpPr/>
          <p:nvPr/>
        </p:nvSpPr>
        <p:spPr>
          <a:xfrm>
            <a:off x="952500" y="6034246"/>
            <a:ext cx="4591367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5607526"/>
            <a:ext cx="4348108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(Conv1)</a:t>
            </a:r>
            <a:endParaRPr lang="en-US" sz="1680" dirty="0"/>
          </a:p>
        </p:txBody>
      </p:sp>
      <p:sp>
        <p:nvSpPr>
          <p:cNvPr id="20" name="Shape 18"/>
          <p:cNvSpPr/>
          <p:nvPr/>
        </p:nvSpPr>
        <p:spPr>
          <a:xfrm>
            <a:off x="5543867" y="5455126"/>
            <a:ext cx="3219133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21" name="Shape 19"/>
          <p:cNvSpPr/>
          <p:nvPr/>
        </p:nvSpPr>
        <p:spPr>
          <a:xfrm>
            <a:off x="5543867" y="6034246"/>
            <a:ext cx="3219133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2" name="Text 20"/>
          <p:cNvSpPr/>
          <p:nvPr/>
        </p:nvSpPr>
        <p:spPr>
          <a:xfrm>
            <a:off x="5734367" y="5607526"/>
            <a:ext cx="2934707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1680" dirty="0"/>
          </a:p>
        </p:txBody>
      </p:sp>
      <p:sp>
        <p:nvSpPr>
          <p:cNvPr id="23" name="Shape 21"/>
          <p:cNvSpPr/>
          <p:nvPr/>
        </p:nvSpPr>
        <p:spPr>
          <a:xfrm>
            <a:off x="952500" y="6041866"/>
            <a:ext cx="4591367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24" name="Shape 22"/>
          <p:cNvSpPr/>
          <p:nvPr/>
        </p:nvSpPr>
        <p:spPr>
          <a:xfrm>
            <a:off x="952500" y="6620986"/>
            <a:ext cx="4591367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5" name="Text 23"/>
          <p:cNvSpPr/>
          <p:nvPr/>
        </p:nvSpPr>
        <p:spPr>
          <a:xfrm>
            <a:off x="1143000" y="6194266"/>
            <a:ext cx="4348108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Units</a:t>
            </a:r>
            <a:endParaRPr lang="en-US" sz="1680" dirty="0"/>
          </a:p>
        </p:txBody>
      </p:sp>
      <p:sp>
        <p:nvSpPr>
          <p:cNvPr id="26" name="Shape 24"/>
          <p:cNvSpPr/>
          <p:nvPr/>
        </p:nvSpPr>
        <p:spPr>
          <a:xfrm>
            <a:off x="5543867" y="6041866"/>
            <a:ext cx="3219133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27" name="Shape 25"/>
          <p:cNvSpPr/>
          <p:nvPr/>
        </p:nvSpPr>
        <p:spPr>
          <a:xfrm>
            <a:off x="5543867" y="6620986"/>
            <a:ext cx="3219133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8" name="Text 26"/>
          <p:cNvSpPr/>
          <p:nvPr/>
        </p:nvSpPr>
        <p:spPr>
          <a:xfrm>
            <a:off x="5734367" y="6194266"/>
            <a:ext cx="2934707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</a:t>
            </a:r>
            <a:endParaRPr lang="en-US" sz="1680" dirty="0"/>
          </a:p>
        </p:txBody>
      </p:sp>
      <p:sp>
        <p:nvSpPr>
          <p:cNvPr id="29" name="Shape 27"/>
          <p:cNvSpPr/>
          <p:nvPr/>
        </p:nvSpPr>
        <p:spPr>
          <a:xfrm>
            <a:off x="952500" y="6628606"/>
            <a:ext cx="4591367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30" name="Shape 28"/>
          <p:cNvSpPr/>
          <p:nvPr/>
        </p:nvSpPr>
        <p:spPr>
          <a:xfrm>
            <a:off x="952500" y="7207726"/>
            <a:ext cx="4591367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1" name="Text 29"/>
          <p:cNvSpPr/>
          <p:nvPr/>
        </p:nvSpPr>
        <p:spPr>
          <a:xfrm>
            <a:off x="1143000" y="6781006"/>
            <a:ext cx="4348108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Dropout Rate</a:t>
            </a:r>
            <a:endParaRPr lang="en-US" sz="1680" dirty="0"/>
          </a:p>
        </p:txBody>
      </p:sp>
      <p:sp>
        <p:nvSpPr>
          <p:cNvPr id="32" name="Shape 30"/>
          <p:cNvSpPr/>
          <p:nvPr/>
        </p:nvSpPr>
        <p:spPr>
          <a:xfrm>
            <a:off x="5543867" y="6628606"/>
            <a:ext cx="3219133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33" name="Shape 31"/>
          <p:cNvSpPr/>
          <p:nvPr/>
        </p:nvSpPr>
        <p:spPr>
          <a:xfrm>
            <a:off x="5543867" y="7207726"/>
            <a:ext cx="3219133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4" name="Text 32"/>
          <p:cNvSpPr/>
          <p:nvPr/>
        </p:nvSpPr>
        <p:spPr>
          <a:xfrm>
            <a:off x="5734367" y="6781006"/>
            <a:ext cx="2934707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680" dirty="0"/>
          </a:p>
        </p:txBody>
      </p:sp>
      <p:sp>
        <p:nvSpPr>
          <p:cNvPr id="35" name="Shape 33"/>
          <p:cNvSpPr/>
          <p:nvPr/>
        </p:nvSpPr>
        <p:spPr>
          <a:xfrm>
            <a:off x="952500" y="7215346"/>
            <a:ext cx="4591367" cy="58293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36" name="Text 34"/>
          <p:cNvSpPr/>
          <p:nvPr/>
        </p:nvSpPr>
        <p:spPr>
          <a:xfrm>
            <a:off x="1143000" y="7367746"/>
            <a:ext cx="4348108" cy="316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Rate</a:t>
            </a:r>
            <a:endParaRPr lang="en-US" sz="1680" dirty="0"/>
          </a:p>
        </p:txBody>
      </p:sp>
      <p:sp>
        <p:nvSpPr>
          <p:cNvPr id="37" name="Shape 35"/>
          <p:cNvSpPr/>
          <p:nvPr/>
        </p:nvSpPr>
        <p:spPr>
          <a:xfrm>
            <a:off x="5543867" y="7215346"/>
            <a:ext cx="3219133" cy="58293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38" name="Text 36"/>
          <p:cNvSpPr/>
          <p:nvPr/>
        </p:nvSpPr>
        <p:spPr>
          <a:xfrm>
            <a:off x="5734367" y="7367746"/>
            <a:ext cx="2934707" cy="3162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0.001</a:t>
            </a:r>
            <a:endParaRPr lang="en-US" sz="1680" dirty="0"/>
          </a:p>
        </p:txBody>
      </p:sp>
      <p:sp>
        <p:nvSpPr>
          <p:cNvPr id="39" name="Shape 37"/>
          <p:cNvSpPr/>
          <p:nvPr/>
        </p:nvSpPr>
        <p:spPr>
          <a:xfrm>
            <a:off x="9525000" y="2376646"/>
            <a:ext cx="7810500" cy="2265521"/>
          </a:xfrm>
          <a:prstGeom prst="roundRect">
            <a:avLst>
              <a:gd name="adj" fmla="val 672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89820" y="2765266"/>
            <a:ext cx="7087286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Tuning Strategy</a:t>
            </a:r>
            <a:endParaRPr lang="en-US" sz="1680" dirty="0"/>
          </a:p>
        </p:txBody>
      </p:sp>
      <p:sp>
        <p:nvSpPr>
          <p:cNvPr id="41" name="Text 39"/>
          <p:cNvSpPr/>
          <p:nvPr/>
        </p:nvSpPr>
        <p:spPr>
          <a:xfrm>
            <a:off x="9989820" y="3161506"/>
            <a:ext cx="7087286" cy="404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Keras Tuner </a:t>
            </a:r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RandomSearch</a:t>
            </a:r>
            <a:endParaRPr lang="en-US" sz="1680" dirty="0"/>
          </a:p>
        </p:txBody>
      </p:sp>
      <p:sp>
        <p:nvSpPr>
          <p:cNvPr id="42" name="Text 40"/>
          <p:cNvSpPr/>
          <p:nvPr/>
        </p:nvSpPr>
        <p:spPr>
          <a:xfrm>
            <a:off x="9989820" y="3528060"/>
            <a:ext cx="7087286" cy="4008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trials · 3-fold evaluation</a:t>
            </a:r>
            <a:endParaRPr lang="en-US" sz="1680" dirty="0"/>
          </a:p>
        </p:txBody>
      </p:sp>
      <p:sp>
        <p:nvSpPr>
          <p:cNvPr id="43" name="Text 41"/>
          <p:cNvSpPr/>
          <p:nvPr/>
        </p:nvSpPr>
        <p:spPr>
          <a:xfrm>
            <a:off x="9989820" y="3890804"/>
            <a:ext cx="7087286" cy="4008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~50–60 min on CPU</a:t>
            </a:r>
            <a:endParaRPr lang="en-US" sz="1680" dirty="0"/>
          </a:p>
        </p:txBody>
      </p:sp>
      <p:sp>
        <p:nvSpPr>
          <p:cNvPr id="44" name="Shape 42"/>
          <p:cNvSpPr/>
          <p:nvPr/>
        </p:nvSpPr>
        <p:spPr>
          <a:xfrm>
            <a:off x="9525000" y="4908868"/>
            <a:ext cx="7810500" cy="2632075"/>
          </a:xfrm>
          <a:prstGeom prst="roundRect">
            <a:avLst>
              <a:gd name="adj" fmla="val 5790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989820" y="5297488"/>
            <a:ext cx="7087286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 Tuning — No Improvement</a:t>
            </a:r>
            <a:endParaRPr lang="en-US" sz="1680" dirty="0"/>
          </a:p>
        </p:txBody>
      </p:sp>
      <p:sp>
        <p:nvSpPr>
          <p:cNvPr id="46" name="Text 44"/>
          <p:cNvSpPr/>
          <p:nvPr/>
        </p:nvSpPr>
        <p:spPr>
          <a:xfrm>
            <a:off x="9989820" y="5693727"/>
            <a:ext cx="7087286" cy="404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sklearn </a:t>
            </a:r>
            <a:pPr algn="l" indent="0" marL="0">
              <a:lnSpc>
                <a:spcPct val="170015"/>
              </a:lnSpc>
              <a:buNone/>
            </a:pPr>
            <a:r>
              <a:rPr lang="en-US" sz="1680" b="1" dirty="0">
                <a:solidFill>
                  <a:srgbClr val="6684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RandomizedSearchCV</a:t>
            </a:r>
            <a:endParaRPr lang="en-US" sz="1680" dirty="0"/>
          </a:p>
        </p:txBody>
      </p:sp>
      <p:sp>
        <p:nvSpPr>
          <p:cNvPr id="47" name="Text 45"/>
          <p:cNvSpPr/>
          <p:nvPr/>
        </p:nvSpPr>
        <p:spPr>
          <a:xfrm>
            <a:off x="9989820" y="6060281"/>
            <a:ext cx="7087286" cy="4008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iterations · 3-fold</a:t>
            </a:r>
            <a:endParaRPr lang="en-US" sz="1680" dirty="0"/>
          </a:p>
        </p:txBody>
      </p:sp>
      <p:sp>
        <p:nvSpPr>
          <p:cNvPr id="48" name="Text 46"/>
          <p:cNvSpPr/>
          <p:nvPr/>
        </p:nvSpPr>
        <p:spPr>
          <a:xfrm>
            <a:off x="9989820" y="6423025"/>
            <a:ext cx="7087286" cy="4008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Best: C=0.1, linear kernel</a:t>
            </a:r>
            <a:endParaRPr lang="en-US" sz="1680" dirty="0"/>
          </a:p>
        </p:txBody>
      </p:sp>
      <p:sp>
        <p:nvSpPr>
          <p:cNvPr id="49" name="Text 47"/>
          <p:cNvSpPr/>
          <p:nvPr/>
        </p:nvSpPr>
        <p:spPr>
          <a:xfrm>
            <a:off x="9989820" y="6785769"/>
            <a:ext cx="7087286" cy="404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</a:t>
            </a:r>
            <a:pPr algn="l" indent="0" marL="0">
              <a:lnSpc>
                <a:spcPct val="170015"/>
              </a:lnSpc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82.08% </a:t>
            </a:r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 gain — already optimal)</a:t>
            </a:r>
            <a:endParaRPr lang="en-US" sz="1680" dirty="0"/>
          </a:p>
        </p:txBody>
      </p:sp>
      <p:sp>
        <p:nvSpPr>
          <p:cNvPr id="50" name="Shape 48"/>
          <p:cNvSpPr/>
          <p:nvPr/>
        </p:nvSpPr>
        <p:spPr>
          <a:xfrm>
            <a:off x="9525000" y="7807643"/>
            <a:ext cx="7810500" cy="1449705"/>
          </a:xfrm>
          <a:prstGeom prst="roundRect">
            <a:avLst>
              <a:gd name="adj" fmla="val 7884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799320" y="8005763"/>
            <a:ext cx="7479716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9799320" y="8341043"/>
            <a:ext cx="7479716" cy="7562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Tuning helps most when capacity is underutilised — SVM was already at its ceiling</a:t>
            </a:r>
            <a:endParaRPr lang="en-US" sz="1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COMPARISON — CLASSICAL ML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16874490" cy="574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Classical Models — Ranked Performance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952500" y="241093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 (Linear)</a:t>
            </a:r>
            <a:endParaRPr lang="en-US" sz="1680" dirty="0"/>
          </a:p>
        </p:txBody>
      </p:sp>
      <p:sp>
        <p:nvSpPr>
          <p:cNvPr id="5" name="Shape 3"/>
          <p:cNvSpPr/>
          <p:nvPr/>
        </p:nvSpPr>
        <p:spPr>
          <a:xfrm>
            <a:off x="3848100" y="237664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55720" y="2384266"/>
            <a:ext cx="3208496" cy="327660"/>
          </a:xfrm>
          <a:prstGeom prst="roundRect">
            <a:avLst>
              <a:gd name="adj" fmla="val 17442"/>
            </a:avLst>
          </a:prstGeom>
          <a:solidFill>
            <a:srgbClr val="009FE6"/>
          </a:solidFill>
          <a:ln/>
        </p:spPr>
      </p:sp>
      <p:sp>
        <p:nvSpPr>
          <p:cNvPr id="7" name="Text 5"/>
          <p:cNvSpPr/>
          <p:nvPr/>
        </p:nvSpPr>
        <p:spPr>
          <a:xfrm>
            <a:off x="7924800" y="241093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82.08%</a:t>
            </a:r>
            <a:endParaRPr lang="en-US" sz="1680" dirty="0"/>
          </a:p>
        </p:txBody>
      </p:sp>
      <p:sp>
        <p:nvSpPr>
          <p:cNvPr id="8" name="Text 6"/>
          <p:cNvSpPr/>
          <p:nvPr/>
        </p:nvSpPr>
        <p:spPr>
          <a:xfrm>
            <a:off x="952500" y="298243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</a:t>
            </a:r>
            <a:endParaRPr lang="en-US" sz="1680" dirty="0"/>
          </a:p>
        </p:txBody>
      </p:sp>
      <p:sp>
        <p:nvSpPr>
          <p:cNvPr id="9" name="Shape 7"/>
          <p:cNvSpPr/>
          <p:nvPr/>
        </p:nvSpPr>
        <p:spPr>
          <a:xfrm>
            <a:off x="3848100" y="294814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55720" y="2955766"/>
            <a:ext cx="3095466" cy="327660"/>
          </a:xfrm>
          <a:prstGeom prst="roundRect">
            <a:avLst>
              <a:gd name="adj" fmla="val 17442"/>
            </a:avLst>
          </a:prstGeom>
          <a:solidFill>
            <a:srgbClr val="6684FB"/>
          </a:solidFill>
          <a:ln/>
        </p:spPr>
      </p:sp>
      <p:sp>
        <p:nvSpPr>
          <p:cNvPr id="11" name="Text 9"/>
          <p:cNvSpPr/>
          <p:nvPr/>
        </p:nvSpPr>
        <p:spPr>
          <a:xfrm>
            <a:off x="7924800" y="298243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79.19%</a:t>
            </a:r>
            <a:endParaRPr lang="en-US" sz="1680" dirty="0"/>
          </a:p>
        </p:txBody>
      </p:sp>
      <p:sp>
        <p:nvSpPr>
          <p:cNvPr id="12" name="Text 10"/>
          <p:cNvSpPr/>
          <p:nvPr/>
        </p:nvSpPr>
        <p:spPr>
          <a:xfrm>
            <a:off x="952500" y="355393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Boosting</a:t>
            </a:r>
            <a:endParaRPr lang="en-US" sz="1680" dirty="0"/>
          </a:p>
        </p:txBody>
      </p:sp>
      <p:sp>
        <p:nvSpPr>
          <p:cNvPr id="13" name="Shape 11"/>
          <p:cNvSpPr/>
          <p:nvPr/>
        </p:nvSpPr>
        <p:spPr>
          <a:xfrm>
            <a:off x="3848100" y="351964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55720" y="3527266"/>
            <a:ext cx="3050223" cy="327660"/>
          </a:xfrm>
          <a:prstGeom prst="roundRect">
            <a:avLst>
              <a:gd name="adj" fmla="val 17442"/>
            </a:avLst>
          </a:prstGeom>
          <a:solidFill>
            <a:srgbClr val="6684FB"/>
          </a:solidFill>
          <a:ln/>
        </p:spPr>
      </p:sp>
      <p:sp>
        <p:nvSpPr>
          <p:cNvPr id="15" name="Text 13"/>
          <p:cNvSpPr/>
          <p:nvPr/>
        </p:nvSpPr>
        <p:spPr>
          <a:xfrm>
            <a:off x="7924800" y="355393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78.03%</a:t>
            </a:r>
            <a:endParaRPr lang="en-US" sz="1680" dirty="0"/>
          </a:p>
        </p:txBody>
      </p:sp>
      <p:sp>
        <p:nvSpPr>
          <p:cNvPr id="16" name="Text 14"/>
          <p:cNvSpPr/>
          <p:nvPr/>
        </p:nvSpPr>
        <p:spPr>
          <a:xfrm>
            <a:off x="952500" y="412543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</a:t>
            </a:r>
            <a:endParaRPr lang="en-US" sz="1680" dirty="0"/>
          </a:p>
        </p:txBody>
      </p:sp>
      <p:sp>
        <p:nvSpPr>
          <p:cNvPr id="17" name="Shape 15"/>
          <p:cNvSpPr/>
          <p:nvPr/>
        </p:nvSpPr>
        <p:spPr>
          <a:xfrm>
            <a:off x="3848100" y="409114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55720" y="4098766"/>
            <a:ext cx="2914967" cy="327660"/>
          </a:xfrm>
          <a:prstGeom prst="roundRect">
            <a:avLst>
              <a:gd name="adj" fmla="val 17442"/>
            </a:avLst>
          </a:prstGeom>
          <a:solidFill>
            <a:srgbClr val="80878D">
              <a:alpha val="5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7924800" y="412543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74.57%</a:t>
            </a:r>
            <a:endParaRPr lang="en-US" sz="1680" dirty="0"/>
          </a:p>
        </p:txBody>
      </p:sp>
      <p:sp>
        <p:nvSpPr>
          <p:cNvPr id="20" name="Text 18"/>
          <p:cNvSpPr/>
          <p:nvPr/>
        </p:nvSpPr>
        <p:spPr>
          <a:xfrm>
            <a:off x="952500" y="4696936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KNN (k=5)</a:t>
            </a:r>
            <a:endParaRPr lang="en-US" sz="1680" dirty="0"/>
          </a:p>
        </p:txBody>
      </p:sp>
      <p:sp>
        <p:nvSpPr>
          <p:cNvPr id="21" name="Shape 19"/>
          <p:cNvSpPr/>
          <p:nvPr/>
        </p:nvSpPr>
        <p:spPr>
          <a:xfrm>
            <a:off x="3848100" y="466264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55720" y="4670266"/>
            <a:ext cx="2733992" cy="327660"/>
          </a:xfrm>
          <a:prstGeom prst="roundRect">
            <a:avLst>
              <a:gd name="adj" fmla="val 17442"/>
            </a:avLst>
          </a:prstGeom>
          <a:solidFill>
            <a:srgbClr val="80878D">
              <a:alpha val="5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7924800" y="4696936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69.94%</a:t>
            </a:r>
            <a:endParaRPr lang="en-US" sz="1680" dirty="0"/>
          </a:p>
        </p:txBody>
      </p:sp>
      <p:sp>
        <p:nvSpPr>
          <p:cNvPr id="24" name="Text 22"/>
          <p:cNvSpPr/>
          <p:nvPr/>
        </p:nvSpPr>
        <p:spPr>
          <a:xfrm>
            <a:off x="952500" y="5268437"/>
            <a:ext cx="274701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(sklearn)</a:t>
            </a:r>
            <a:endParaRPr lang="en-US" sz="1680" dirty="0"/>
          </a:p>
        </p:txBody>
      </p:sp>
      <p:sp>
        <p:nvSpPr>
          <p:cNvPr id="25" name="Shape 23"/>
          <p:cNvSpPr/>
          <p:nvPr/>
        </p:nvSpPr>
        <p:spPr>
          <a:xfrm>
            <a:off x="3848100" y="5234146"/>
            <a:ext cx="3924300" cy="342900"/>
          </a:xfrm>
          <a:prstGeom prst="roundRect">
            <a:avLst>
              <a:gd name="adj" fmla="val 1666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55720" y="5241766"/>
            <a:ext cx="2530634" cy="327660"/>
          </a:xfrm>
          <a:prstGeom prst="roundRect">
            <a:avLst>
              <a:gd name="adj" fmla="val 17442"/>
            </a:avLst>
          </a:prstGeom>
          <a:solidFill>
            <a:srgbClr val="E64343">
              <a:alpha val="7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7924800" y="5268437"/>
            <a:ext cx="83820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64.74%</a:t>
            </a:r>
            <a:endParaRPr lang="en-US" sz="1680" dirty="0"/>
          </a:p>
        </p:txBody>
      </p:sp>
      <p:sp>
        <p:nvSpPr>
          <p:cNvPr id="28" name="Shape 26"/>
          <p:cNvSpPr/>
          <p:nvPr/>
        </p:nvSpPr>
        <p:spPr>
          <a:xfrm>
            <a:off x="9525000" y="2376646"/>
            <a:ext cx="7810500" cy="1988820"/>
          </a:xfrm>
          <a:prstGeom prst="roundRect">
            <a:avLst>
              <a:gd name="adj" fmla="val 7663"/>
            </a:avLst>
          </a:prstGeom>
          <a:solidFill>
            <a:srgbClr val="0B1318"/>
          </a:solidFill>
          <a:ln w="7620">
            <a:solidFill>
              <a:srgbClr val="00334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989820" y="2765266"/>
            <a:ext cx="7087286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Classical Model</a:t>
            </a:r>
            <a:endParaRPr lang="en-US" sz="1680" dirty="0"/>
          </a:p>
        </p:txBody>
      </p:sp>
      <p:sp>
        <p:nvSpPr>
          <p:cNvPr id="30" name="Text 28"/>
          <p:cNvSpPr/>
          <p:nvPr/>
        </p:nvSpPr>
        <p:spPr>
          <a:xfrm>
            <a:off x="9989820" y="3161506"/>
            <a:ext cx="7087286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 </a:t>
            </a:r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3900" dirty="0"/>
          </a:p>
        </p:txBody>
      </p:sp>
      <p:sp>
        <p:nvSpPr>
          <p:cNvPr id="31" name="Text 29"/>
          <p:cNvSpPr/>
          <p:nvPr/>
        </p:nvSpPr>
        <p:spPr>
          <a:xfrm>
            <a:off x="9989820" y="3733006"/>
            <a:ext cx="7087286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80/20 held-out split · StandardScaler</a:t>
            </a:r>
            <a:endParaRPr lang="en-US" sz="1680" dirty="0"/>
          </a:p>
        </p:txBody>
      </p:sp>
      <p:sp>
        <p:nvSpPr>
          <p:cNvPr id="32" name="Shape 30"/>
          <p:cNvSpPr/>
          <p:nvPr/>
        </p:nvSpPr>
        <p:spPr>
          <a:xfrm>
            <a:off x="9525000" y="4632166"/>
            <a:ext cx="7810500" cy="2269331"/>
          </a:xfrm>
          <a:prstGeom prst="roundRect">
            <a:avLst>
              <a:gd name="adj" fmla="val 6716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89820" y="5020787"/>
            <a:ext cx="7087286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 — MLP Instability</a:t>
            </a:r>
            <a:endParaRPr lang="en-US" sz="1680" dirty="0"/>
          </a:p>
        </p:txBody>
      </p:sp>
      <p:sp>
        <p:nvSpPr>
          <p:cNvPr id="34" name="Text 32"/>
          <p:cNvSpPr/>
          <p:nvPr/>
        </p:nvSpPr>
        <p:spPr>
          <a:xfrm>
            <a:off x="9989820" y="5417026"/>
            <a:ext cx="7087286" cy="404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Std Dev: </a:t>
            </a:r>
            <a:pPr algn="l" indent="0" marL="0">
              <a:lnSpc>
                <a:spcPct val="170015"/>
              </a:lnSpc>
              <a:buNone/>
            </a:pPr>
            <a:r>
              <a:rPr lang="en-US" sz="1680" b="1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±13.26%</a:t>
            </a:r>
            <a:endParaRPr lang="en-US" sz="1680" dirty="0"/>
          </a:p>
        </p:txBody>
      </p:sp>
      <p:sp>
        <p:nvSpPr>
          <p:cNvPr id="35" name="Text 33"/>
          <p:cNvSpPr/>
          <p:nvPr/>
        </p:nvSpPr>
        <p:spPr>
          <a:xfrm>
            <a:off x="9989820" y="5783580"/>
            <a:ext cx="7087286" cy="7673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 2 dropped to </a:t>
            </a:r>
            <a:pPr algn="l" indent="0" marL="0">
              <a:lnSpc>
                <a:spcPct val="170015"/>
              </a:lnSpc>
              <a:buNone/>
            </a:pPr>
            <a:r>
              <a:rPr lang="en-US" sz="1680" b="1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34.8% </a:t>
            </a:r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below majority-class baseline, confirming training divergence</a:t>
            </a:r>
            <a:endParaRPr lang="en-US" sz="1680" dirty="0"/>
          </a:p>
        </p:txBody>
      </p:sp>
      <p:sp>
        <p:nvSpPr>
          <p:cNvPr id="36" name="Shape 34"/>
          <p:cNvSpPr/>
          <p:nvPr/>
        </p:nvSpPr>
        <p:spPr>
          <a:xfrm>
            <a:off x="9525000" y="7168197"/>
            <a:ext cx="7810500" cy="1235075"/>
          </a:xfrm>
          <a:prstGeom prst="roundRect">
            <a:avLst>
              <a:gd name="adj" fmla="val 9254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875520" y="7442518"/>
            <a:ext cx="7322744" cy="724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models trained on flattened </a:t>
            </a:r>
            <a:pPr algn="l" indent="0" marL="0">
              <a:lnSpc>
                <a:spcPct val="159970"/>
              </a:lnSpc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12,288-dim </a:t>
            </a:r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 vectors — no hand-crafted features, demonstrating raw pixel viability for classical QC</a:t>
            </a:r>
            <a:endParaRPr lang="en-US" sz="1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RIGOR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16874490" cy="574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Cross-Validation &amp; Overfitting Analysis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952500" y="2376646"/>
            <a:ext cx="804481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spc="101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5-FOLD STRATIFIED CV — CLASSICAL MODELS</a:t>
            </a:r>
            <a:endParaRPr lang="en-US" sz="1680" dirty="0"/>
          </a:p>
        </p:txBody>
      </p:sp>
      <p:sp>
        <p:nvSpPr>
          <p:cNvPr id="5" name="Shape 3"/>
          <p:cNvSpPr/>
          <p:nvPr/>
        </p:nvSpPr>
        <p:spPr>
          <a:xfrm>
            <a:off x="952500" y="3401536"/>
            <a:ext cx="3372485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993866"/>
            <a:ext cx="3092659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24985" y="3401536"/>
            <a:ext cx="2272665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8" name="Text 6"/>
          <p:cNvSpPr/>
          <p:nvPr/>
        </p:nvSpPr>
        <p:spPr>
          <a:xfrm>
            <a:off x="4515485" y="2993866"/>
            <a:ext cx="1967865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MEAN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97650" y="3401536"/>
            <a:ext cx="2165350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10" name="Text 8"/>
          <p:cNvSpPr/>
          <p:nvPr/>
        </p:nvSpPr>
        <p:spPr>
          <a:xfrm>
            <a:off x="6788150" y="2993866"/>
            <a:ext cx="1860550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STD DEV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" y="3409156"/>
            <a:ext cx="3372485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500" y="3988276"/>
            <a:ext cx="337248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3561556"/>
            <a:ext cx="3092659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 (Linear)</a:t>
            </a:r>
            <a:endParaRPr lang="en-US" sz="1680" dirty="0"/>
          </a:p>
        </p:txBody>
      </p:sp>
      <p:sp>
        <p:nvSpPr>
          <p:cNvPr id="14" name="Shape 12"/>
          <p:cNvSpPr/>
          <p:nvPr/>
        </p:nvSpPr>
        <p:spPr>
          <a:xfrm>
            <a:off x="4324985" y="3409156"/>
            <a:ext cx="2272665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15" name="Shape 13"/>
          <p:cNvSpPr/>
          <p:nvPr/>
        </p:nvSpPr>
        <p:spPr>
          <a:xfrm>
            <a:off x="4324985" y="3988276"/>
            <a:ext cx="227266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16" name="Text 14"/>
          <p:cNvSpPr/>
          <p:nvPr/>
        </p:nvSpPr>
        <p:spPr>
          <a:xfrm>
            <a:off x="4515485" y="3561556"/>
            <a:ext cx="196786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86.98%</a:t>
            </a:r>
            <a:endParaRPr lang="en-US" sz="1680" dirty="0"/>
          </a:p>
        </p:txBody>
      </p:sp>
      <p:sp>
        <p:nvSpPr>
          <p:cNvPr id="17" name="Shape 15"/>
          <p:cNvSpPr/>
          <p:nvPr/>
        </p:nvSpPr>
        <p:spPr>
          <a:xfrm>
            <a:off x="6597650" y="3409156"/>
            <a:ext cx="2165350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18" name="Shape 16"/>
          <p:cNvSpPr/>
          <p:nvPr/>
        </p:nvSpPr>
        <p:spPr>
          <a:xfrm>
            <a:off x="6597650" y="3988276"/>
            <a:ext cx="216535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19" name="Text 17"/>
          <p:cNvSpPr/>
          <p:nvPr/>
        </p:nvSpPr>
        <p:spPr>
          <a:xfrm>
            <a:off x="6788150" y="3561556"/>
            <a:ext cx="1860550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±2.77%</a:t>
            </a:r>
            <a:endParaRPr lang="en-US" sz="1680" dirty="0"/>
          </a:p>
        </p:txBody>
      </p:sp>
      <p:sp>
        <p:nvSpPr>
          <p:cNvPr id="20" name="Shape 18"/>
          <p:cNvSpPr/>
          <p:nvPr/>
        </p:nvSpPr>
        <p:spPr>
          <a:xfrm>
            <a:off x="952500" y="4544536"/>
            <a:ext cx="337248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1" name="Text 19"/>
          <p:cNvSpPr/>
          <p:nvPr/>
        </p:nvSpPr>
        <p:spPr>
          <a:xfrm>
            <a:off x="1143000" y="4148296"/>
            <a:ext cx="3092659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</a:t>
            </a:r>
            <a:endParaRPr lang="en-US" sz="1680" dirty="0"/>
          </a:p>
        </p:txBody>
      </p:sp>
      <p:sp>
        <p:nvSpPr>
          <p:cNvPr id="22" name="Shape 20"/>
          <p:cNvSpPr/>
          <p:nvPr/>
        </p:nvSpPr>
        <p:spPr>
          <a:xfrm>
            <a:off x="4324985" y="4544536"/>
            <a:ext cx="227266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3" name="Text 21"/>
          <p:cNvSpPr/>
          <p:nvPr/>
        </p:nvSpPr>
        <p:spPr>
          <a:xfrm>
            <a:off x="4515485" y="4148296"/>
            <a:ext cx="1967865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83.21%</a:t>
            </a:r>
            <a:endParaRPr lang="en-US" sz="1680" dirty="0"/>
          </a:p>
        </p:txBody>
      </p:sp>
      <p:sp>
        <p:nvSpPr>
          <p:cNvPr id="24" name="Shape 22"/>
          <p:cNvSpPr/>
          <p:nvPr/>
        </p:nvSpPr>
        <p:spPr>
          <a:xfrm>
            <a:off x="6597650" y="4544536"/>
            <a:ext cx="216535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5" name="Text 23"/>
          <p:cNvSpPr/>
          <p:nvPr/>
        </p:nvSpPr>
        <p:spPr>
          <a:xfrm>
            <a:off x="6788150" y="4148296"/>
            <a:ext cx="1860550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±2.64%</a:t>
            </a:r>
            <a:endParaRPr lang="en-US" sz="1680" dirty="0"/>
          </a:p>
        </p:txBody>
      </p:sp>
      <p:sp>
        <p:nvSpPr>
          <p:cNvPr id="26" name="Shape 24"/>
          <p:cNvSpPr/>
          <p:nvPr/>
        </p:nvSpPr>
        <p:spPr>
          <a:xfrm>
            <a:off x="952500" y="5100796"/>
            <a:ext cx="337248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7" name="Text 25"/>
          <p:cNvSpPr/>
          <p:nvPr/>
        </p:nvSpPr>
        <p:spPr>
          <a:xfrm>
            <a:off x="1143000" y="4704556"/>
            <a:ext cx="3092659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Boosting</a:t>
            </a:r>
            <a:endParaRPr lang="en-US" sz="1680" dirty="0"/>
          </a:p>
        </p:txBody>
      </p:sp>
      <p:sp>
        <p:nvSpPr>
          <p:cNvPr id="28" name="Shape 26"/>
          <p:cNvSpPr/>
          <p:nvPr/>
        </p:nvSpPr>
        <p:spPr>
          <a:xfrm>
            <a:off x="4324985" y="5100796"/>
            <a:ext cx="227266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9" name="Text 27"/>
          <p:cNvSpPr/>
          <p:nvPr/>
        </p:nvSpPr>
        <p:spPr>
          <a:xfrm>
            <a:off x="4515485" y="4704556"/>
            <a:ext cx="1967865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79.59%</a:t>
            </a:r>
            <a:endParaRPr lang="en-US" sz="1680" dirty="0"/>
          </a:p>
        </p:txBody>
      </p:sp>
      <p:sp>
        <p:nvSpPr>
          <p:cNvPr id="30" name="Shape 28"/>
          <p:cNvSpPr/>
          <p:nvPr/>
        </p:nvSpPr>
        <p:spPr>
          <a:xfrm>
            <a:off x="6597650" y="5100796"/>
            <a:ext cx="216535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1" name="Text 29"/>
          <p:cNvSpPr/>
          <p:nvPr/>
        </p:nvSpPr>
        <p:spPr>
          <a:xfrm>
            <a:off x="6788150" y="4704556"/>
            <a:ext cx="1860550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±3.52%</a:t>
            </a:r>
            <a:endParaRPr lang="en-US" sz="1680" dirty="0"/>
          </a:p>
        </p:txBody>
      </p:sp>
      <p:sp>
        <p:nvSpPr>
          <p:cNvPr id="32" name="Shape 30"/>
          <p:cNvSpPr/>
          <p:nvPr/>
        </p:nvSpPr>
        <p:spPr>
          <a:xfrm>
            <a:off x="952500" y="5657056"/>
            <a:ext cx="337248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3" name="Text 31"/>
          <p:cNvSpPr/>
          <p:nvPr/>
        </p:nvSpPr>
        <p:spPr>
          <a:xfrm>
            <a:off x="1143000" y="5260816"/>
            <a:ext cx="3092659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</a:t>
            </a:r>
            <a:endParaRPr lang="en-US" sz="1680" dirty="0"/>
          </a:p>
        </p:txBody>
      </p:sp>
      <p:sp>
        <p:nvSpPr>
          <p:cNvPr id="34" name="Shape 32"/>
          <p:cNvSpPr/>
          <p:nvPr/>
        </p:nvSpPr>
        <p:spPr>
          <a:xfrm>
            <a:off x="4324985" y="5657056"/>
            <a:ext cx="227266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5" name="Text 33"/>
          <p:cNvSpPr/>
          <p:nvPr/>
        </p:nvSpPr>
        <p:spPr>
          <a:xfrm>
            <a:off x="4515485" y="5260816"/>
            <a:ext cx="1967865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77.42%</a:t>
            </a:r>
            <a:endParaRPr lang="en-US" sz="1680" dirty="0"/>
          </a:p>
        </p:txBody>
      </p:sp>
      <p:sp>
        <p:nvSpPr>
          <p:cNvPr id="36" name="Shape 34"/>
          <p:cNvSpPr/>
          <p:nvPr/>
        </p:nvSpPr>
        <p:spPr>
          <a:xfrm>
            <a:off x="6597650" y="5657056"/>
            <a:ext cx="216535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7" name="Text 35"/>
          <p:cNvSpPr/>
          <p:nvPr/>
        </p:nvSpPr>
        <p:spPr>
          <a:xfrm>
            <a:off x="6788150" y="5260816"/>
            <a:ext cx="1860550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±1.29%</a:t>
            </a:r>
            <a:endParaRPr lang="en-US" sz="1680" dirty="0"/>
          </a:p>
        </p:txBody>
      </p:sp>
      <p:sp>
        <p:nvSpPr>
          <p:cNvPr id="38" name="Shape 36"/>
          <p:cNvSpPr/>
          <p:nvPr/>
        </p:nvSpPr>
        <p:spPr>
          <a:xfrm>
            <a:off x="952500" y="6213316"/>
            <a:ext cx="337248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9" name="Text 37"/>
          <p:cNvSpPr/>
          <p:nvPr/>
        </p:nvSpPr>
        <p:spPr>
          <a:xfrm>
            <a:off x="1143000" y="5817076"/>
            <a:ext cx="3092659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KNN (k=5)</a:t>
            </a:r>
            <a:endParaRPr lang="en-US" sz="1680" dirty="0"/>
          </a:p>
        </p:txBody>
      </p:sp>
      <p:sp>
        <p:nvSpPr>
          <p:cNvPr id="40" name="Shape 38"/>
          <p:cNvSpPr/>
          <p:nvPr/>
        </p:nvSpPr>
        <p:spPr>
          <a:xfrm>
            <a:off x="4324985" y="6213316"/>
            <a:ext cx="2272665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41" name="Text 39"/>
          <p:cNvSpPr/>
          <p:nvPr/>
        </p:nvSpPr>
        <p:spPr>
          <a:xfrm>
            <a:off x="4515485" y="5817076"/>
            <a:ext cx="1967865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72.36%</a:t>
            </a:r>
            <a:endParaRPr lang="en-US" sz="1680" dirty="0"/>
          </a:p>
        </p:txBody>
      </p:sp>
      <p:sp>
        <p:nvSpPr>
          <p:cNvPr id="42" name="Shape 40"/>
          <p:cNvSpPr/>
          <p:nvPr/>
        </p:nvSpPr>
        <p:spPr>
          <a:xfrm>
            <a:off x="6597650" y="6213316"/>
            <a:ext cx="216535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43" name="Text 41"/>
          <p:cNvSpPr/>
          <p:nvPr/>
        </p:nvSpPr>
        <p:spPr>
          <a:xfrm>
            <a:off x="6788150" y="5817076"/>
            <a:ext cx="1860550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±2.19%</a:t>
            </a:r>
            <a:endParaRPr lang="en-US" sz="1680" dirty="0"/>
          </a:p>
        </p:txBody>
      </p:sp>
      <p:sp>
        <p:nvSpPr>
          <p:cNvPr id="44" name="Text 42"/>
          <p:cNvSpPr/>
          <p:nvPr/>
        </p:nvSpPr>
        <p:spPr>
          <a:xfrm>
            <a:off x="1143000" y="6373337"/>
            <a:ext cx="309265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</a:t>
            </a:r>
            <a:endParaRPr lang="en-US" sz="1680" dirty="0"/>
          </a:p>
        </p:txBody>
      </p:sp>
      <p:sp>
        <p:nvSpPr>
          <p:cNvPr id="45" name="Text 43"/>
          <p:cNvSpPr/>
          <p:nvPr/>
        </p:nvSpPr>
        <p:spPr>
          <a:xfrm>
            <a:off x="4515485" y="6373337"/>
            <a:ext cx="196786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60.49%</a:t>
            </a:r>
            <a:endParaRPr lang="en-US" sz="1680" dirty="0"/>
          </a:p>
        </p:txBody>
      </p:sp>
      <p:sp>
        <p:nvSpPr>
          <p:cNvPr id="46" name="Text 44"/>
          <p:cNvSpPr/>
          <p:nvPr/>
        </p:nvSpPr>
        <p:spPr>
          <a:xfrm>
            <a:off x="6788150" y="6373337"/>
            <a:ext cx="18605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±13.26%</a:t>
            </a:r>
            <a:endParaRPr lang="en-US" sz="1680" dirty="0"/>
          </a:p>
        </p:txBody>
      </p:sp>
      <p:sp>
        <p:nvSpPr>
          <p:cNvPr id="47" name="Shape 45"/>
          <p:cNvSpPr/>
          <p:nvPr/>
        </p:nvSpPr>
        <p:spPr>
          <a:xfrm>
            <a:off x="952500" y="7078187"/>
            <a:ext cx="7810500" cy="1158875"/>
          </a:xfrm>
          <a:prstGeom prst="roundRect">
            <a:avLst>
              <a:gd name="adj" fmla="val 8219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264920" y="7314406"/>
            <a:ext cx="7401230" cy="724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9970"/>
              </a:lnSpc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SVM's CV mean (86.98%) exceeds its held-out test score (82.08%) </a:t>
            </a:r>
            <a:pPr algn="l" indent="0" marL="0">
              <a:lnSpc>
                <a:spcPct val="159970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confirming robust generalisation, not overfitting to the split</a:t>
            </a:r>
            <a:endParaRPr lang="en-US" sz="1680" dirty="0"/>
          </a:p>
        </p:txBody>
      </p:sp>
      <p:sp>
        <p:nvSpPr>
          <p:cNvPr id="49" name="Text 47"/>
          <p:cNvSpPr/>
          <p:nvPr/>
        </p:nvSpPr>
        <p:spPr>
          <a:xfrm>
            <a:off x="9525000" y="2376646"/>
            <a:ext cx="804481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spc="101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OVERFITTING ANALYSIS</a:t>
            </a:r>
            <a:endParaRPr lang="en-US" sz="1680" dirty="0"/>
          </a:p>
        </p:txBody>
      </p:sp>
      <p:sp>
        <p:nvSpPr>
          <p:cNvPr id="50" name="Shape 48"/>
          <p:cNvSpPr/>
          <p:nvPr/>
        </p:nvSpPr>
        <p:spPr>
          <a:xfrm>
            <a:off x="9525000" y="2955766"/>
            <a:ext cx="3790950" cy="1668780"/>
          </a:xfrm>
          <a:prstGeom prst="roundRect">
            <a:avLst>
              <a:gd name="adj" fmla="val 9132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89820" y="3344386"/>
            <a:ext cx="2947149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Accuracy</a:t>
            </a:r>
            <a:endParaRPr lang="en-US" sz="1680" dirty="0"/>
          </a:p>
        </p:txBody>
      </p:sp>
      <p:sp>
        <p:nvSpPr>
          <p:cNvPr id="52" name="Text 50"/>
          <p:cNvSpPr/>
          <p:nvPr/>
        </p:nvSpPr>
        <p:spPr>
          <a:xfrm>
            <a:off x="9989820" y="3740626"/>
            <a:ext cx="2947149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F7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99.17%</a:t>
            </a:r>
            <a:endParaRPr lang="en-US" sz="3900" dirty="0"/>
          </a:p>
        </p:txBody>
      </p:sp>
      <p:sp>
        <p:nvSpPr>
          <p:cNvPr id="53" name="Shape 51"/>
          <p:cNvSpPr/>
          <p:nvPr/>
        </p:nvSpPr>
        <p:spPr>
          <a:xfrm>
            <a:off x="13544550" y="2955766"/>
            <a:ext cx="3790950" cy="1668780"/>
          </a:xfrm>
          <a:prstGeom prst="roundRect">
            <a:avLst>
              <a:gd name="adj" fmla="val 9132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4009370" y="3344386"/>
            <a:ext cx="2947149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 Accuracy</a:t>
            </a:r>
            <a:endParaRPr lang="en-US" sz="1680" dirty="0"/>
          </a:p>
        </p:txBody>
      </p:sp>
      <p:sp>
        <p:nvSpPr>
          <p:cNvPr id="55" name="Text 53"/>
          <p:cNvSpPr/>
          <p:nvPr/>
        </p:nvSpPr>
        <p:spPr>
          <a:xfrm>
            <a:off x="14009370" y="3740626"/>
            <a:ext cx="2947149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90.62%</a:t>
            </a:r>
            <a:endParaRPr lang="en-US" sz="3900" dirty="0"/>
          </a:p>
        </p:txBody>
      </p:sp>
      <p:sp>
        <p:nvSpPr>
          <p:cNvPr id="56" name="Shape 54"/>
          <p:cNvSpPr/>
          <p:nvPr/>
        </p:nvSpPr>
        <p:spPr>
          <a:xfrm>
            <a:off x="9525000" y="4891246"/>
            <a:ext cx="7810500" cy="2057400"/>
          </a:xfrm>
          <a:prstGeom prst="roundRect">
            <a:avLst>
              <a:gd name="adj" fmla="val 5556"/>
            </a:avLst>
          </a:prstGeom>
          <a:solidFill>
            <a:srgbClr val="130803"/>
          </a:solidFill>
          <a:ln w="7620">
            <a:solidFill>
              <a:srgbClr val="421D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875520" y="5165566"/>
            <a:ext cx="7322744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F7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OVERFITTING GAP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9875520" y="5500846"/>
            <a:ext cx="7322744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7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8.55</a:t>
            </a:r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7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</a:t>
            </a:r>
            <a:endParaRPr lang="en-US" sz="4800" dirty="0"/>
          </a:p>
        </p:txBody>
      </p:sp>
      <p:sp>
        <p:nvSpPr>
          <p:cNvPr id="59" name="Text 57"/>
          <p:cNvSpPr/>
          <p:nvPr/>
        </p:nvSpPr>
        <p:spPr>
          <a:xfrm>
            <a:off x="9875520" y="6186646"/>
            <a:ext cx="7322744" cy="525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Dropout(0.5) partially mitigated — early stopping (patience=3) limited further divergence</a:t>
            </a:r>
            <a:endParaRPr lang="en-US" sz="1680" dirty="0"/>
          </a:p>
        </p:txBody>
      </p:sp>
      <p:sp>
        <p:nvSpPr>
          <p:cNvPr id="60" name="Shape 58"/>
          <p:cNvSpPr/>
          <p:nvPr/>
        </p:nvSpPr>
        <p:spPr>
          <a:xfrm>
            <a:off x="9525000" y="7215346"/>
            <a:ext cx="7810500" cy="1906588"/>
          </a:xfrm>
          <a:prstGeom prst="roundRect">
            <a:avLst>
              <a:gd name="adj" fmla="val 7993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989820" y="7603966"/>
            <a:ext cx="7087286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Positives (Critical QC Error)</a:t>
            </a:r>
            <a:endParaRPr lang="en-US" sz="1680" dirty="0"/>
          </a:p>
        </p:txBody>
      </p:sp>
      <p:sp>
        <p:nvSpPr>
          <p:cNvPr id="62" name="Text 60"/>
          <p:cNvSpPr/>
          <p:nvPr/>
        </p:nvSpPr>
        <p:spPr>
          <a:xfrm>
            <a:off x="9989820" y="8000206"/>
            <a:ext cx="7087286" cy="404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b="1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75 </a:t>
            </a:r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boards misclassified as PASS</a:t>
            </a:r>
            <a:endParaRPr lang="en-US" sz="1680" dirty="0"/>
          </a:p>
        </p:txBody>
      </p:sp>
      <p:sp>
        <p:nvSpPr>
          <p:cNvPr id="63" name="Text 61"/>
          <p:cNvSpPr/>
          <p:nvPr/>
        </p:nvSpPr>
        <p:spPr>
          <a:xfrm>
            <a:off x="9989820" y="8366760"/>
            <a:ext cx="7087286" cy="404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recall = </a:t>
            </a:r>
            <a:pPr algn="l" indent="0" marL="0">
              <a:lnSpc>
                <a:spcPct val="170015"/>
              </a:lnSpc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</a:t>
            </a:r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13/56 PASS boards rejected · 131 held-out images</a:t>
            </a:r>
            <a:endParaRPr lang="en-US" sz="1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INFERENCE — ANALYZER.PY · STATIC IMAGE MODE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16874490" cy="574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on Unseen Data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952500" y="2148046"/>
            <a:ext cx="5232400" cy="2667000"/>
          </a:xfrm>
          <a:prstGeom prst="roundRect">
            <a:avLst>
              <a:gd name="adj" fmla="val 4286"/>
            </a:avLst>
          </a:prstGeom>
          <a:solidFill>
            <a:srgbClr val="090E12"/>
          </a:solidFill>
          <a:ln w="7620">
            <a:solidFill>
              <a:srgbClr val="212A3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55666"/>
            <a:ext cx="5217160" cy="2651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2500" y="4967446"/>
            <a:ext cx="5232400" cy="1855470"/>
          </a:xfrm>
          <a:prstGeom prst="roundRect">
            <a:avLst>
              <a:gd name="adj" fmla="val 6160"/>
            </a:avLst>
          </a:prstGeom>
          <a:solidFill>
            <a:srgbClr val="020C05"/>
          </a:solidFill>
          <a:ln w="7620">
            <a:solidFill>
              <a:srgbClr val="05381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26820" y="5184616"/>
            <a:ext cx="4824273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00B7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— TRUE PASS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26820" y="5519896"/>
            <a:ext cx="4824273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00B7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1226820" y="6015196"/>
            <a:ext cx="4824273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Confidence: </a:t>
            </a:r>
            <a:pPr algn="l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98.74%</a:t>
            </a:r>
            <a:endParaRPr lang="en-US" sz="1680" dirty="0"/>
          </a:p>
        </p:txBody>
      </p:sp>
      <p:sp>
        <p:nvSpPr>
          <p:cNvPr id="10" name="Text 7"/>
          <p:cNvSpPr/>
          <p:nvPr/>
        </p:nvSpPr>
        <p:spPr>
          <a:xfrm>
            <a:off x="1226820" y="6346666"/>
            <a:ext cx="4824273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components correctly seated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527800" y="2148046"/>
            <a:ext cx="5232400" cy="2667000"/>
          </a:xfrm>
          <a:prstGeom prst="roundRect">
            <a:avLst>
              <a:gd name="adj" fmla="val 4286"/>
            </a:avLst>
          </a:prstGeom>
          <a:solidFill>
            <a:srgbClr val="090E12"/>
          </a:solidFill>
          <a:ln w="7620">
            <a:solidFill>
              <a:srgbClr val="212A3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5420" y="2155666"/>
            <a:ext cx="5217160" cy="26517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527800" y="4967446"/>
            <a:ext cx="5232400" cy="2114550"/>
          </a:xfrm>
          <a:prstGeom prst="roundRect">
            <a:avLst>
              <a:gd name="adj" fmla="val 5405"/>
            </a:avLst>
          </a:prstGeom>
          <a:solidFill>
            <a:srgbClr val="0E0504"/>
          </a:solidFill>
          <a:ln w="7620">
            <a:solidFill>
              <a:srgbClr val="49151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802120" y="5184616"/>
            <a:ext cx="4824273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— TRUE FAIL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6802120" y="5519896"/>
            <a:ext cx="4824273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3300" dirty="0"/>
          </a:p>
        </p:txBody>
      </p:sp>
      <p:sp>
        <p:nvSpPr>
          <p:cNvPr id="16" name="Text 12"/>
          <p:cNvSpPr/>
          <p:nvPr/>
        </p:nvSpPr>
        <p:spPr>
          <a:xfrm>
            <a:off x="6802120" y="6015196"/>
            <a:ext cx="4824273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Confidence: </a:t>
            </a:r>
            <a:pPr algn="l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99.99%</a:t>
            </a:r>
            <a:endParaRPr lang="en-US" sz="1680" dirty="0"/>
          </a:p>
        </p:txBody>
      </p:sp>
      <p:sp>
        <p:nvSpPr>
          <p:cNvPr id="17" name="Text 13"/>
          <p:cNvSpPr/>
          <p:nvPr/>
        </p:nvSpPr>
        <p:spPr>
          <a:xfrm>
            <a:off x="6802120" y="6346666"/>
            <a:ext cx="4824273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Moved component detected via learned feature maps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12103100" y="2148046"/>
            <a:ext cx="5232400" cy="2667000"/>
          </a:xfrm>
          <a:prstGeom prst="roundRect">
            <a:avLst>
              <a:gd name="adj" fmla="val 4286"/>
            </a:avLst>
          </a:prstGeom>
          <a:solidFill>
            <a:srgbClr val="090E12"/>
          </a:solidFill>
          <a:ln w="7620">
            <a:solidFill>
              <a:srgbClr val="212A31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0720" y="2155666"/>
            <a:ext cx="5217160" cy="265176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12103100" y="4967446"/>
            <a:ext cx="5232400" cy="2114550"/>
          </a:xfrm>
          <a:prstGeom prst="roundRect">
            <a:avLst>
              <a:gd name="adj" fmla="val 5405"/>
            </a:avLst>
          </a:prstGeom>
          <a:solidFill>
            <a:srgbClr val="0F0703"/>
          </a:solidFill>
          <a:ln w="7620">
            <a:solidFill>
              <a:srgbClr val="421D00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2377420" y="5184616"/>
            <a:ext cx="4824273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F7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MISCLASSIFICATION — FALSE FAIL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12377420" y="5519896"/>
            <a:ext cx="1080453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00B7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3300" dirty="0"/>
          </a:p>
        </p:txBody>
      </p:sp>
      <p:sp>
        <p:nvSpPr>
          <p:cNvPr id="23" name="Text 18"/>
          <p:cNvSpPr/>
          <p:nvPr/>
        </p:nvSpPr>
        <p:spPr>
          <a:xfrm>
            <a:off x="13534073" y="5561806"/>
            <a:ext cx="361950" cy="3733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212A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50" dirty="0"/>
          </a:p>
        </p:txBody>
      </p:sp>
      <p:sp>
        <p:nvSpPr>
          <p:cNvPr id="24" name="Text 19"/>
          <p:cNvSpPr/>
          <p:nvPr/>
        </p:nvSpPr>
        <p:spPr>
          <a:xfrm>
            <a:off x="13972223" y="5519896"/>
            <a:ext cx="88519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F77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3300" dirty="0"/>
          </a:p>
        </p:txBody>
      </p:sp>
      <p:sp>
        <p:nvSpPr>
          <p:cNvPr id="25" name="Text 20"/>
          <p:cNvSpPr/>
          <p:nvPr/>
        </p:nvSpPr>
        <p:spPr>
          <a:xfrm>
            <a:off x="12377420" y="6015196"/>
            <a:ext cx="4824273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Confidence: </a:t>
            </a:r>
            <a:pPr algn="l" indent="0" marL="0"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99.37%</a:t>
            </a:r>
            <a:endParaRPr lang="en-US" sz="1680" dirty="0"/>
          </a:p>
        </p:txBody>
      </p:sp>
      <p:sp>
        <p:nvSpPr>
          <p:cNvPr id="26" name="Text 21"/>
          <p:cNvSpPr/>
          <p:nvPr/>
        </p:nvSpPr>
        <p:spPr>
          <a:xfrm>
            <a:off x="12377420" y="6346666"/>
            <a:ext cx="4824273" cy="556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Unclear wiring detected as improper breadboard design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952500" y="8437245"/>
            <a:ext cx="16383000" cy="1087755"/>
          </a:xfrm>
          <a:prstGeom prst="roundRect">
            <a:avLst>
              <a:gd name="adj" fmla="val 8757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1303020" y="8851582"/>
            <a:ext cx="2356009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WAS RUN</a:t>
            </a:r>
            <a:endParaRPr lang="en-US" sz="1800" dirty="0"/>
          </a:p>
        </p:txBody>
      </p:sp>
      <p:sp>
        <p:nvSpPr>
          <p:cNvPr id="29" name="Shape 24"/>
          <p:cNvSpPr/>
          <p:nvPr/>
        </p:nvSpPr>
        <p:spPr>
          <a:xfrm>
            <a:off x="3887629" y="8828723"/>
            <a:ext cx="9525" cy="304800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30" name="Text 25"/>
          <p:cNvSpPr/>
          <p:nvPr/>
        </p:nvSpPr>
        <p:spPr>
          <a:xfrm>
            <a:off x="4201954" y="8635365"/>
            <a:ext cx="13166518" cy="7296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analyzer.py </a:t>
            </a:r>
            <a:pPr algn="l" indent="0" marL="0">
              <a:lnSpc>
                <a:spcPct val="150000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select option </a:t>
            </a:r>
            <a:pPr algn="l" indent="0" marL="0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</a:t>
            </a:r>
            <a:pPr algn="l" indent="0" marL="0">
              <a:lnSpc>
                <a:spcPct val="150000"/>
              </a:lnSpc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(static image) → provide image path → result printed to terminal with class label and confidence score</a:t>
            </a:r>
            <a:endParaRPr lang="en-US" sz="1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306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857250"/>
            <a:ext cx="16874490" cy="335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RESULTS &amp; DEPLOYMENT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344930"/>
            <a:ext cx="16874490" cy="574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994"/>
              </a:lnSpc>
              <a:buNone/>
            </a:pPr>
            <a:r>
              <a:rPr lang="en-US" sz="3840" b="1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Comparison &amp; System Architecture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952500" y="2224246"/>
            <a:ext cx="8044815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b="1" spc="101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MODELS — FINAL RANKING</a:t>
            </a:r>
            <a:endParaRPr lang="en-US" sz="1680" dirty="0"/>
          </a:p>
        </p:txBody>
      </p:sp>
      <p:sp>
        <p:nvSpPr>
          <p:cNvPr id="5" name="Shape 3"/>
          <p:cNvSpPr/>
          <p:nvPr/>
        </p:nvSpPr>
        <p:spPr>
          <a:xfrm>
            <a:off x="952500" y="3211036"/>
            <a:ext cx="3938270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803366"/>
            <a:ext cx="3675418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890770" y="3211036"/>
            <a:ext cx="1939608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8" name="Text 6"/>
          <p:cNvSpPr/>
          <p:nvPr/>
        </p:nvSpPr>
        <p:spPr>
          <a:xfrm>
            <a:off x="5081270" y="2803366"/>
            <a:ext cx="1634808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30377" y="3211036"/>
            <a:ext cx="1932622" cy="9525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10" name="Text 8"/>
          <p:cNvSpPr/>
          <p:nvPr/>
        </p:nvSpPr>
        <p:spPr>
          <a:xfrm>
            <a:off x="7020877" y="2803366"/>
            <a:ext cx="1627822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" y="3218656"/>
            <a:ext cx="3938270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500" y="3797776"/>
            <a:ext cx="393827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3371056"/>
            <a:ext cx="3675418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— Tuned (RandomSearch)</a:t>
            </a:r>
            <a:endParaRPr lang="en-US" sz="1680" dirty="0"/>
          </a:p>
        </p:txBody>
      </p:sp>
      <p:sp>
        <p:nvSpPr>
          <p:cNvPr id="14" name="Shape 12"/>
          <p:cNvSpPr/>
          <p:nvPr/>
        </p:nvSpPr>
        <p:spPr>
          <a:xfrm>
            <a:off x="4890770" y="3218656"/>
            <a:ext cx="1939608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0770" y="3797776"/>
            <a:ext cx="1939608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16" name="Text 14"/>
          <p:cNvSpPr/>
          <p:nvPr/>
        </p:nvSpPr>
        <p:spPr>
          <a:xfrm>
            <a:off x="5081270" y="3371056"/>
            <a:ext cx="1634808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93.75%</a:t>
            </a:r>
            <a:endParaRPr lang="en-US" sz="1680" dirty="0"/>
          </a:p>
        </p:txBody>
      </p:sp>
      <p:sp>
        <p:nvSpPr>
          <p:cNvPr id="17" name="Shape 15"/>
          <p:cNvSpPr/>
          <p:nvPr/>
        </p:nvSpPr>
        <p:spPr>
          <a:xfrm>
            <a:off x="6830377" y="3218656"/>
            <a:ext cx="1932622" cy="586740"/>
          </a:xfrm>
          <a:prstGeom prst="rect">
            <a:avLst/>
          </a:prstGeom>
          <a:solidFill>
            <a:srgbClr val="03141C"/>
          </a:solidFill>
          <a:ln/>
        </p:spPr>
      </p:sp>
      <p:sp>
        <p:nvSpPr>
          <p:cNvPr id="18" name="Shape 16"/>
          <p:cNvSpPr/>
          <p:nvPr/>
        </p:nvSpPr>
        <p:spPr>
          <a:xfrm>
            <a:off x="6830377" y="3797776"/>
            <a:ext cx="1932622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19" name="Text 17"/>
          <p:cNvSpPr/>
          <p:nvPr/>
        </p:nvSpPr>
        <p:spPr>
          <a:xfrm>
            <a:off x="7020877" y="3371056"/>
            <a:ext cx="1627822" cy="3124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overall</a:t>
            </a:r>
            <a:endParaRPr lang="en-US" sz="1680" dirty="0"/>
          </a:p>
        </p:txBody>
      </p:sp>
      <p:sp>
        <p:nvSpPr>
          <p:cNvPr id="20" name="Shape 18"/>
          <p:cNvSpPr/>
          <p:nvPr/>
        </p:nvSpPr>
        <p:spPr>
          <a:xfrm>
            <a:off x="952500" y="4354036"/>
            <a:ext cx="393827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1" name="Text 19"/>
          <p:cNvSpPr/>
          <p:nvPr/>
        </p:nvSpPr>
        <p:spPr>
          <a:xfrm>
            <a:off x="1143000" y="3957796"/>
            <a:ext cx="367541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— ReLU + Adam</a:t>
            </a:r>
            <a:endParaRPr lang="en-US" sz="1680" dirty="0"/>
          </a:p>
        </p:txBody>
      </p:sp>
      <p:sp>
        <p:nvSpPr>
          <p:cNvPr id="22" name="Shape 20"/>
          <p:cNvSpPr/>
          <p:nvPr/>
        </p:nvSpPr>
        <p:spPr>
          <a:xfrm>
            <a:off x="4890770" y="4354036"/>
            <a:ext cx="1939608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3" name="Text 21"/>
          <p:cNvSpPr/>
          <p:nvPr/>
        </p:nvSpPr>
        <p:spPr>
          <a:xfrm>
            <a:off x="5081270" y="3957796"/>
            <a:ext cx="163480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87.02%</a:t>
            </a:r>
            <a:endParaRPr lang="en-US" sz="1680" dirty="0"/>
          </a:p>
        </p:txBody>
      </p:sp>
      <p:sp>
        <p:nvSpPr>
          <p:cNvPr id="24" name="Shape 22"/>
          <p:cNvSpPr/>
          <p:nvPr/>
        </p:nvSpPr>
        <p:spPr>
          <a:xfrm>
            <a:off x="6830377" y="4354036"/>
            <a:ext cx="1932622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5" name="Text 23"/>
          <p:cNvSpPr/>
          <p:nvPr/>
        </p:nvSpPr>
        <p:spPr>
          <a:xfrm>
            <a:off x="7020877" y="3957796"/>
            <a:ext cx="1627822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CNN</a:t>
            </a:r>
            <a:endParaRPr lang="en-US" sz="1680" dirty="0"/>
          </a:p>
        </p:txBody>
      </p:sp>
      <p:sp>
        <p:nvSpPr>
          <p:cNvPr id="26" name="Shape 24"/>
          <p:cNvSpPr/>
          <p:nvPr/>
        </p:nvSpPr>
        <p:spPr>
          <a:xfrm>
            <a:off x="952500" y="4910296"/>
            <a:ext cx="393827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7" name="Text 25"/>
          <p:cNvSpPr/>
          <p:nvPr/>
        </p:nvSpPr>
        <p:spPr>
          <a:xfrm>
            <a:off x="1143000" y="4514056"/>
            <a:ext cx="367541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 (Linear) — 5-fold CV</a:t>
            </a:r>
            <a:endParaRPr lang="en-US" sz="1680" dirty="0"/>
          </a:p>
        </p:txBody>
      </p:sp>
      <p:sp>
        <p:nvSpPr>
          <p:cNvPr id="28" name="Shape 26"/>
          <p:cNvSpPr/>
          <p:nvPr/>
        </p:nvSpPr>
        <p:spPr>
          <a:xfrm>
            <a:off x="4890770" y="4910296"/>
            <a:ext cx="1939608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29" name="Text 27"/>
          <p:cNvSpPr/>
          <p:nvPr/>
        </p:nvSpPr>
        <p:spPr>
          <a:xfrm>
            <a:off x="5081270" y="4514056"/>
            <a:ext cx="163480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86.98%</a:t>
            </a:r>
            <a:endParaRPr lang="en-US" sz="1680" dirty="0"/>
          </a:p>
        </p:txBody>
      </p:sp>
      <p:sp>
        <p:nvSpPr>
          <p:cNvPr id="30" name="Shape 28"/>
          <p:cNvSpPr/>
          <p:nvPr/>
        </p:nvSpPr>
        <p:spPr>
          <a:xfrm>
            <a:off x="6830377" y="4910296"/>
            <a:ext cx="1932622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1" name="Text 29"/>
          <p:cNvSpPr/>
          <p:nvPr/>
        </p:nvSpPr>
        <p:spPr>
          <a:xfrm>
            <a:off x="7020877" y="4514056"/>
            <a:ext cx="1627822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classical</a:t>
            </a:r>
            <a:endParaRPr lang="en-US" sz="1680" dirty="0"/>
          </a:p>
        </p:txBody>
      </p:sp>
      <p:sp>
        <p:nvSpPr>
          <p:cNvPr id="32" name="Shape 30"/>
          <p:cNvSpPr/>
          <p:nvPr/>
        </p:nvSpPr>
        <p:spPr>
          <a:xfrm>
            <a:off x="952500" y="5466556"/>
            <a:ext cx="393827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3" name="Text 31"/>
          <p:cNvSpPr/>
          <p:nvPr/>
        </p:nvSpPr>
        <p:spPr>
          <a:xfrm>
            <a:off x="1143000" y="5070316"/>
            <a:ext cx="367541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 (Linear) — held-out</a:t>
            </a:r>
            <a:endParaRPr lang="en-US" sz="1680" dirty="0"/>
          </a:p>
        </p:txBody>
      </p:sp>
      <p:sp>
        <p:nvSpPr>
          <p:cNvPr id="34" name="Shape 32"/>
          <p:cNvSpPr/>
          <p:nvPr/>
        </p:nvSpPr>
        <p:spPr>
          <a:xfrm>
            <a:off x="4890770" y="5466556"/>
            <a:ext cx="1939608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5" name="Text 33"/>
          <p:cNvSpPr/>
          <p:nvPr/>
        </p:nvSpPr>
        <p:spPr>
          <a:xfrm>
            <a:off x="5081270" y="5070316"/>
            <a:ext cx="163480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82.08%</a:t>
            </a:r>
            <a:endParaRPr lang="en-US" sz="1680" dirty="0"/>
          </a:p>
        </p:txBody>
      </p:sp>
      <p:sp>
        <p:nvSpPr>
          <p:cNvPr id="36" name="Shape 34"/>
          <p:cNvSpPr/>
          <p:nvPr/>
        </p:nvSpPr>
        <p:spPr>
          <a:xfrm>
            <a:off x="6830377" y="5466556"/>
            <a:ext cx="1932622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7" name="Text 35"/>
          <p:cNvSpPr/>
          <p:nvPr/>
        </p:nvSpPr>
        <p:spPr>
          <a:xfrm>
            <a:off x="7020877" y="5070316"/>
            <a:ext cx="1627822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680" dirty="0"/>
          </a:p>
        </p:txBody>
      </p:sp>
      <p:sp>
        <p:nvSpPr>
          <p:cNvPr id="38" name="Shape 36"/>
          <p:cNvSpPr/>
          <p:nvPr/>
        </p:nvSpPr>
        <p:spPr>
          <a:xfrm>
            <a:off x="952500" y="6022816"/>
            <a:ext cx="393827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39" name="Text 37"/>
          <p:cNvSpPr/>
          <p:nvPr/>
        </p:nvSpPr>
        <p:spPr>
          <a:xfrm>
            <a:off x="1143000" y="5626576"/>
            <a:ext cx="367541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</a:t>
            </a:r>
            <a:endParaRPr lang="en-US" sz="1680" dirty="0"/>
          </a:p>
        </p:txBody>
      </p:sp>
      <p:sp>
        <p:nvSpPr>
          <p:cNvPr id="40" name="Shape 38"/>
          <p:cNvSpPr/>
          <p:nvPr/>
        </p:nvSpPr>
        <p:spPr>
          <a:xfrm>
            <a:off x="4890770" y="6022816"/>
            <a:ext cx="1939608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41" name="Text 39"/>
          <p:cNvSpPr/>
          <p:nvPr/>
        </p:nvSpPr>
        <p:spPr>
          <a:xfrm>
            <a:off x="5081270" y="5626576"/>
            <a:ext cx="163480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79.19%</a:t>
            </a:r>
            <a:endParaRPr lang="en-US" sz="1680" dirty="0"/>
          </a:p>
        </p:txBody>
      </p:sp>
      <p:sp>
        <p:nvSpPr>
          <p:cNvPr id="42" name="Shape 40"/>
          <p:cNvSpPr/>
          <p:nvPr/>
        </p:nvSpPr>
        <p:spPr>
          <a:xfrm>
            <a:off x="6830377" y="6022816"/>
            <a:ext cx="1932622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43" name="Text 41"/>
          <p:cNvSpPr/>
          <p:nvPr/>
        </p:nvSpPr>
        <p:spPr>
          <a:xfrm>
            <a:off x="7020877" y="5626576"/>
            <a:ext cx="1627822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680" dirty="0"/>
          </a:p>
        </p:txBody>
      </p:sp>
      <p:sp>
        <p:nvSpPr>
          <p:cNvPr id="44" name="Shape 42"/>
          <p:cNvSpPr/>
          <p:nvPr/>
        </p:nvSpPr>
        <p:spPr>
          <a:xfrm>
            <a:off x="952500" y="6579077"/>
            <a:ext cx="393827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45" name="Text 43"/>
          <p:cNvSpPr/>
          <p:nvPr/>
        </p:nvSpPr>
        <p:spPr>
          <a:xfrm>
            <a:off x="1143000" y="6182837"/>
            <a:ext cx="367541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Boosting</a:t>
            </a:r>
            <a:endParaRPr lang="en-US" sz="1680" dirty="0"/>
          </a:p>
        </p:txBody>
      </p:sp>
      <p:sp>
        <p:nvSpPr>
          <p:cNvPr id="46" name="Shape 44"/>
          <p:cNvSpPr/>
          <p:nvPr/>
        </p:nvSpPr>
        <p:spPr>
          <a:xfrm>
            <a:off x="4890770" y="6579077"/>
            <a:ext cx="1939608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47" name="Text 45"/>
          <p:cNvSpPr/>
          <p:nvPr/>
        </p:nvSpPr>
        <p:spPr>
          <a:xfrm>
            <a:off x="5081270" y="6182837"/>
            <a:ext cx="163480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78.03%</a:t>
            </a:r>
            <a:endParaRPr lang="en-US" sz="1680" dirty="0"/>
          </a:p>
        </p:txBody>
      </p:sp>
      <p:sp>
        <p:nvSpPr>
          <p:cNvPr id="48" name="Shape 46"/>
          <p:cNvSpPr/>
          <p:nvPr/>
        </p:nvSpPr>
        <p:spPr>
          <a:xfrm>
            <a:off x="6830377" y="6579077"/>
            <a:ext cx="1932622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49" name="Text 47"/>
          <p:cNvSpPr/>
          <p:nvPr/>
        </p:nvSpPr>
        <p:spPr>
          <a:xfrm>
            <a:off x="7020877" y="6182837"/>
            <a:ext cx="1627822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680" dirty="0"/>
          </a:p>
        </p:txBody>
      </p:sp>
      <p:sp>
        <p:nvSpPr>
          <p:cNvPr id="50" name="Shape 48"/>
          <p:cNvSpPr/>
          <p:nvPr/>
        </p:nvSpPr>
        <p:spPr>
          <a:xfrm>
            <a:off x="952500" y="7135336"/>
            <a:ext cx="393827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51" name="Text 49"/>
          <p:cNvSpPr/>
          <p:nvPr/>
        </p:nvSpPr>
        <p:spPr>
          <a:xfrm>
            <a:off x="1143000" y="6739096"/>
            <a:ext cx="367541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</a:t>
            </a:r>
            <a:endParaRPr lang="en-US" sz="1680" dirty="0"/>
          </a:p>
        </p:txBody>
      </p:sp>
      <p:sp>
        <p:nvSpPr>
          <p:cNvPr id="52" name="Shape 50"/>
          <p:cNvSpPr/>
          <p:nvPr/>
        </p:nvSpPr>
        <p:spPr>
          <a:xfrm>
            <a:off x="4890770" y="7135336"/>
            <a:ext cx="1939608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53" name="Text 51"/>
          <p:cNvSpPr/>
          <p:nvPr/>
        </p:nvSpPr>
        <p:spPr>
          <a:xfrm>
            <a:off x="5081270" y="6739096"/>
            <a:ext cx="163480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74.57%</a:t>
            </a:r>
            <a:endParaRPr lang="en-US" sz="1680" dirty="0"/>
          </a:p>
        </p:txBody>
      </p:sp>
      <p:sp>
        <p:nvSpPr>
          <p:cNvPr id="54" name="Shape 52"/>
          <p:cNvSpPr/>
          <p:nvPr/>
        </p:nvSpPr>
        <p:spPr>
          <a:xfrm>
            <a:off x="6830377" y="7135336"/>
            <a:ext cx="1932622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55" name="Text 53"/>
          <p:cNvSpPr/>
          <p:nvPr/>
        </p:nvSpPr>
        <p:spPr>
          <a:xfrm>
            <a:off x="7020877" y="6739096"/>
            <a:ext cx="1627822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680" dirty="0"/>
          </a:p>
        </p:txBody>
      </p:sp>
      <p:sp>
        <p:nvSpPr>
          <p:cNvPr id="56" name="Shape 54"/>
          <p:cNvSpPr/>
          <p:nvPr/>
        </p:nvSpPr>
        <p:spPr>
          <a:xfrm>
            <a:off x="952500" y="7691596"/>
            <a:ext cx="3938270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57" name="Text 55"/>
          <p:cNvSpPr/>
          <p:nvPr/>
        </p:nvSpPr>
        <p:spPr>
          <a:xfrm>
            <a:off x="1143000" y="7295356"/>
            <a:ext cx="367541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KNN (k=5)</a:t>
            </a:r>
            <a:endParaRPr lang="en-US" sz="1680" dirty="0"/>
          </a:p>
        </p:txBody>
      </p:sp>
      <p:sp>
        <p:nvSpPr>
          <p:cNvPr id="58" name="Shape 56"/>
          <p:cNvSpPr/>
          <p:nvPr/>
        </p:nvSpPr>
        <p:spPr>
          <a:xfrm>
            <a:off x="4890770" y="7691596"/>
            <a:ext cx="1939608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59" name="Text 57"/>
          <p:cNvSpPr/>
          <p:nvPr/>
        </p:nvSpPr>
        <p:spPr>
          <a:xfrm>
            <a:off x="5081270" y="7295356"/>
            <a:ext cx="1634808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69.94%</a:t>
            </a:r>
            <a:endParaRPr lang="en-US" sz="1680" dirty="0"/>
          </a:p>
        </p:txBody>
      </p:sp>
      <p:sp>
        <p:nvSpPr>
          <p:cNvPr id="60" name="Shape 58"/>
          <p:cNvSpPr/>
          <p:nvPr/>
        </p:nvSpPr>
        <p:spPr>
          <a:xfrm>
            <a:off x="6830377" y="7691596"/>
            <a:ext cx="1932622" cy="9525"/>
          </a:xfrm>
          <a:prstGeom prst="rect">
            <a:avLst/>
          </a:prstGeom>
          <a:solidFill>
            <a:srgbClr val="141C21"/>
          </a:solidFill>
          <a:ln/>
        </p:spPr>
      </p:sp>
      <p:sp>
        <p:nvSpPr>
          <p:cNvPr id="61" name="Text 59"/>
          <p:cNvSpPr/>
          <p:nvPr/>
        </p:nvSpPr>
        <p:spPr>
          <a:xfrm>
            <a:off x="7020877" y="7295356"/>
            <a:ext cx="1627822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680" dirty="0"/>
          </a:p>
        </p:txBody>
      </p:sp>
      <p:sp>
        <p:nvSpPr>
          <p:cNvPr id="62" name="Text 60"/>
          <p:cNvSpPr/>
          <p:nvPr/>
        </p:nvSpPr>
        <p:spPr>
          <a:xfrm>
            <a:off x="1143000" y="7851616"/>
            <a:ext cx="367541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(sklearn)</a:t>
            </a:r>
            <a:endParaRPr lang="en-US" sz="1680" dirty="0"/>
          </a:p>
        </p:txBody>
      </p:sp>
      <p:sp>
        <p:nvSpPr>
          <p:cNvPr id="63" name="Text 61"/>
          <p:cNvSpPr/>
          <p:nvPr/>
        </p:nvSpPr>
        <p:spPr>
          <a:xfrm>
            <a:off x="5081270" y="7851616"/>
            <a:ext cx="163480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64.74%</a:t>
            </a:r>
            <a:endParaRPr lang="en-US" sz="1680" dirty="0"/>
          </a:p>
        </p:txBody>
      </p:sp>
      <p:sp>
        <p:nvSpPr>
          <p:cNvPr id="64" name="Text 62"/>
          <p:cNvSpPr/>
          <p:nvPr/>
        </p:nvSpPr>
        <p:spPr>
          <a:xfrm>
            <a:off x="7020877" y="7851616"/>
            <a:ext cx="162782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E6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Unstable</a:t>
            </a:r>
            <a:endParaRPr lang="en-US" sz="1680" dirty="0"/>
          </a:p>
        </p:txBody>
      </p:sp>
      <p:sp>
        <p:nvSpPr>
          <p:cNvPr id="65" name="Shape 63"/>
          <p:cNvSpPr/>
          <p:nvPr/>
        </p:nvSpPr>
        <p:spPr>
          <a:xfrm>
            <a:off x="9525000" y="2224246"/>
            <a:ext cx="7810500" cy="2269331"/>
          </a:xfrm>
          <a:prstGeom prst="roundRect">
            <a:avLst>
              <a:gd name="adj" fmla="val 6716"/>
            </a:avLst>
          </a:prstGeom>
          <a:solidFill>
            <a:srgbClr val="010B11"/>
          </a:solidFill>
          <a:ln w="7620">
            <a:solidFill>
              <a:srgbClr val="00344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989820" y="2612866"/>
            <a:ext cx="7087286" cy="281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8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680" dirty="0"/>
          </a:p>
        </p:txBody>
      </p:sp>
      <p:sp>
        <p:nvSpPr>
          <p:cNvPr id="67" name="Text 65"/>
          <p:cNvSpPr/>
          <p:nvPr/>
        </p:nvSpPr>
        <p:spPr>
          <a:xfrm>
            <a:off x="9989820" y="3009106"/>
            <a:ext cx="7087286" cy="113395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surpasses the best classical model by </a:t>
            </a:r>
            <a:pPr algn="l" indent="0" marL="0">
              <a:lnSpc>
                <a:spcPct val="170015"/>
              </a:lnSpc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+4.94pp </a:t>
            </a:r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test data and </a:t>
            </a:r>
            <a:pPr algn="l" indent="0" marL="0">
              <a:lnSpc>
                <a:spcPct val="170015"/>
              </a:lnSpc>
              <a:buNone/>
            </a:pPr>
            <a:r>
              <a:rPr lang="en-US" sz="1680" b="1" dirty="0">
                <a:solidFill>
                  <a:srgbClr val="009F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+6.73pp </a:t>
            </a:r>
            <a:pPr algn="l" indent="0" marL="0">
              <a:lnSpc>
                <a:spcPct val="170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tuning — validating deep learning for visual QC tasks with a small augmented dataset</a:t>
            </a:r>
            <a:endParaRPr lang="en-US" sz="1680" dirty="0"/>
          </a:p>
        </p:txBody>
      </p:sp>
      <p:sp>
        <p:nvSpPr>
          <p:cNvPr id="68" name="Shape 66"/>
          <p:cNvSpPr/>
          <p:nvPr/>
        </p:nvSpPr>
        <p:spPr>
          <a:xfrm>
            <a:off x="9525000" y="4722177"/>
            <a:ext cx="7810500" cy="2818606"/>
          </a:xfrm>
          <a:prstGeom prst="roundRect">
            <a:avLst>
              <a:gd name="adj" fmla="val 4055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875520" y="4996497"/>
            <a:ext cx="7322744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STACK</a:t>
            </a:r>
            <a:endParaRPr lang="en-US" sz="1800" dirty="0"/>
          </a:p>
        </p:txBody>
      </p:sp>
      <p:sp>
        <p:nvSpPr>
          <p:cNvPr id="70" name="Shape 68"/>
          <p:cNvSpPr/>
          <p:nvPr/>
        </p:nvSpPr>
        <p:spPr>
          <a:xfrm>
            <a:off x="9875520" y="5541327"/>
            <a:ext cx="95250" cy="95250"/>
          </a:xfrm>
          <a:prstGeom prst="ellipse">
            <a:avLst/>
          </a:prstGeom>
          <a:solidFill>
            <a:srgbClr val="009FE6"/>
          </a:solidFill>
          <a:ln/>
        </p:spPr>
      </p:sp>
      <p:sp>
        <p:nvSpPr>
          <p:cNvPr id="71" name="Text 69"/>
          <p:cNvSpPr/>
          <p:nvPr/>
        </p:nvSpPr>
        <p:spPr>
          <a:xfrm>
            <a:off x="10199370" y="5407977"/>
            <a:ext cx="6989179" cy="6792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15"/>
              </a:lnSpc>
              <a:buNone/>
            </a:pPr>
            <a:r>
              <a:rPr lang="en-US" sz="18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analyzer.py </a:t>
            </a:r>
            <a:pPr algn="l" indent="0" marL="0">
              <a:lnSpc>
                <a:spcPct val="145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Webcam or static image inference, real-time CV overlay</a:t>
            </a:r>
            <a:endParaRPr lang="en-US" sz="1680" dirty="0"/>
          </a:p>
        </p:txBody>
      </p:sp>
      <p:sp>
        <p:nvSpPr>
          <p:cNvPr id="72" name="Shape 70"/>
          <p:cNvSpPr/>
          <p:nvPr/>
        </p:nvSpPr>
        <p:spPr>
          <a:xfrm>
            <a:off x="9875520" y="6315869"/>
            <a:ext cx="95250" cy="95250"/>
          </a:xfrm>
          <a:prstGeom prst="ellipse">
            <a:avLst/>
          </a:prstGeom>
          <a:solidFill>
            <a:srgbClr val="6684FB"/>
          </a:solidFill>
          <a:ln/>
        </p:spPr>
      </p:sp>
      <p:sp>
        <p:nvSpPr>
          <p:cNvPr id="73" name="Text 71"/>
          <p:cNvSpPr/>
          <p:nvPr/>
        </p:nvSpPr>
        <p:spPr>
          <a:xfrm>
            <a:off x="10199370" y="6182519"/>
            <a:ext cx="5673884" cy="347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Arduino LED indicator — Green/Red output on PASS/FAIL</a:t>
            </a:r>
            <a:endParaRPr lang="en-US" sz="1680" dirty="0"/>
          </a:p>
        </p:txBody>
      </p:sp>
      <p:sp>
        <p:nvSpPr>
          <p:cNvPr id="74" name="Shape 72"/>
          <p:cNvSpPr/>
          <p:nvPr/>
        </p:nvSpPr>
        <p:spPr>
          <a:xfrm>
            <a:off x="9875520" y="6758622"/>
            <a:ext cx="95250" cy="95250"/>
          </a:xfrm>
          <a:prstGeom prst="ellipse">
            <a:avLst/>
          </a:prstGeom>
          <a:solidFill>
            <a:srgbClr val="00B764"/>
          </a:solidFill>
          <a:ln/>
        </p:spPr>
      </p:sp>
      <p:sp>
        <p:nvSpPr>
          <p:cNvPr id="75" name="Text 73"/>
          <p:cNvSpPr/>
          <p:nvPr/>
        </p:nvSpPr>
        <p:spPr>
          <a:xfrm>
            <a:off x="10199370" y="6625272"/>
            <a:ext cx="6989179" cy="6792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EPSON VT6 robotic arm integration (</a:t>
            </a:r>
            <a:pPr algn="l" indent="0" marL="0">
              <a:lnSpc>
                <a:spcPct val="145015"/>
              </a:lnSpc>
              <a:buNone/>
            </a:pPr>
            <a:r>
              <a:rPr lang="en-US" sz="18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picker-bot </a:t>
            </a:r>
            <a:pPr algn="l" indent="0" marL="0">
              <a:lnSpc>
                <a:spcPct val="145015"/>
              </a:lnSpc>
              <a:buNone/>
            </a:pPr>
            <a:r>
              <a:rPr lang="en-US" sz="1680" dirty="0">
                <a:solidFill>
                  <a:srgbClr val="E8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for automated sorting</a:t>
            </a:r>
            <a:endParaRPr lang="en-US" sz="1680" dirty="0"/>
          </a:p>
        </p:txBody>
      </p:sp>
      <p:sp>
        <p:nvSpPr>
          <p:cNvPr id="76" name="Shape 74"/>
          <p:cNvSpPr/>
          <p:nvPr/>
        </p:nvSpPr>
        <p:spPr>
          <a:xfrm>
            <a:off x="9525000" y="7769384"/>
            <a:ext cx="7810500" cy="876300"/>
          </a:xfrm>
          <a:prstGeom prst="roundRect">
            <a:avLst>
              <a:gd name="adj" fmla="val 10870"/>
            </a:avLst>
          </a:prstGeom>
          <a:solidFill>
            <a:srgbClr val="0B1318"/>
          </a:solidFill>
          <a:ln w="7620">
            <a:solidFill>
              <a:srgbClr val="212A3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761220" y="8077994"/>
            <a:ext cx="2029301" cy="297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180" kern="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78" name="Shape 76"/>
          <p:cNvSpPr/>
          <p:nvPr/>
        </p:nvSpPr>
        <p:spPr>
          <a:xfrm>
            <a:off x="11866721" y="8074184"/>
            <a:ext cx="9525" cy="266700"/>
          </a:xfrm>
          <a:prstGeom prst="rect">
            <a:avLst/>
          </a:prstGeom>
          <a:solidFill>
            <a:srgbClr val="212A31"/>
          </a:solidFill>
          <a:ln/>
        </p:spPr>
      </p:sp>
      <p:sp>
        <p:nvSpPr>
          <p:cNvPr id="79" name="Text 77"/>
          <p:cNvSpPr/>
          <p:nvPr/>
        </p:nvSpPr>
        <p:spPr>
          <a:xfrm>
            <a:off x="12028646" y="7910354"/>
            <a:ext cx="5222753" cy="632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808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learning · expanded dataset · Raspberry Pi edge deployment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2026-04-19T20:21:02Z</dcterms:created>
  <dcterms:modified xsi:type="dcterms:W3CDTF">2026-04-19T20:21:02Z</dcterms:modified>
</cp:coreProperties>
</file>